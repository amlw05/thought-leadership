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5" d="100"/>
          <a:sy n="115" d="100"/>
        </p:scale>
        <p:origin x="514" y="3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2029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and thank you for inviting me to share FTCC's microcredentialing journey with the Transformational Skills Development Task Force. I'm Angela Westmoreland, the Instructional Support and Quality Assurance Analyst here at FTCC. Today I'll share how we went from zero badges to over one thousand, how this work spans multiple disciplines, and most importantly, how microcredentials can support the transformational skills mission you're all working toward. I'm excited to explore how we might collaborate.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joined FTCC's microcredentialing initiative in August 2023, we were at the end of a three-year grant period. Despite the investment, not a single badge had been built or issued. The Credly platform was set up, the institutional commitment was there, but we needed a systematic approach to actually develop and deploy credentials. This was both a challenge and an opportunity—a blank canvas to build something meaningful.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was developing an AI-powered methodology that any faculty member could adopt. Here's the five-step process: First, we identify programs where microcredentials make sense—typically where there are discrete, demonstrable skills. Second, we use AI tools like Claude or ChatGPT to identify the specific competencies within those skills. Third, AI helps us design assessment options—how will students demonstrate mastery? Fourth, we generate rubrics, and I recommend single-point rubrics for clarity. Fifth, we establish what score constitutes mastery and issue the badge through Credly. The key insight? The longest part is crafting your prompt. Once you have that, AI generates relevant, usable results in seconds. This means the methodology scales across any discipline.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growth story. August 2023: zero. Spring 2024: we issued our first badges. Today, February 2026: we've issued 1,014 badges across 17 different badge types, with a 68% student acceptance rate. That acceptance rate tells us students see value in these credentials—they're claiming them and adding them to LinkedIn profiles and resumes. This growth happened in under two years, which demonstrates what's possible when you have a systematic approach and institutional support.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I'm most proud of is the interdisciplinary reach. We're not siloed in one department—we're serving five distinct sectors with the same framework. Industrial and Safety leads with 430 badges, representing 42% of our total. Technology, specifically cybersecurity, accounts for 23%. Healthcare credentials make up 19%. Business and quality improvement badges are 14%. And we even have faculty development badges recognizing instructors who achieve high-quality course standards. This interdisciplinary spread is exactly why I was excited to speak with this task force—transformational skills by definition cross disciplinary boundaries.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each sector. Industrial and Safety is our largest category. The Verified Forklift Operator badge alone accounts for 206 credentials—these students are immediately employable in warehousing, logistics, and manufacturing. OSHA certifications add another layer of workforce readiness. These badges have direct labor market value; employers specifically look for OSHA certification. What's powerful here is that students can earn these credentials WHILE completing their degree, giving them employment options at every stage of their educational journey.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Technology, specifically our Cybersecurity Fundamentals badge, is our top performer with 231 badges issued. This single badge represents nearly a quarter of all our credentials. Why? Because cybersecurity skills are in massive demand. The Bureau of Labor Statistics projects 35% growth in information security jobs through 2031. Our students completing this badge have validated, shareable proof of foundational security knowledge. This badge aligns with the CIT division's curriculum and gives students a competitive edge whether they're seeking internships, entry-level positions, or demonstrating skills to current employers.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represents 195 badges across five credential types. The Basic Spanish for Healthcare Professional badge addresses a real workforce need—patients who speak Spanish deserve providers who can communicate with them. CPR certification is foundational for anyone in healthcare settings. The three diagnostic badges—Microbiology, Hematology, and Clinical Chemistry—support our Medical Laboratory Technology program. These students are demonstrating specific technical competencies that employers can verify instantly. For MLT students, these badges can validate skills before they complete their full degree, making them more competitive for clinical placements and employment.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Lean Six Sigma credentials represent 147 badges. Here's what's important about these: they're not industry-specific. A Six Sigma Green Belt is valued in healthcare, manufacturing, logistics, finance, government—virtually any sector that wants to improve processes and reduce waste. These badges give our students transferable credentials that demonstrate analytical thinking and process improvement skills. Yellow Belt is the entry level; Green Belt shows deeper competency. Students can stack these credentials, building from Yellow to Green and potentially to Black Belt through continued professional development.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category is unique—it's for faculty, not students. We've issued 32 badges recognizing instructors who have achieved high-quality course standards. This matters for several reasons: it incentivizes quality, it gives faculty portable credentials they can use in their own professional development, and it models for students what earning a badge looks like. When faculty understand the credentialing process firsthand, they're better equipped to integrate microcredentials into their own courses. This is also a retention and recognition strategy—we're telling our faculty that their commitment to quality is seen and valued.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share why this matters beyond our campus. Ninety-six percent of employers surveyed by Lumina Foundation believe microcredentials strengthen job applications. Ninety percent are willing to offer higher starting salaries to candidates who hold these credentials. Ninety-seven percent of employers are either using or actively considering skills-based hiring—that's nearly universal. And Google and Coursera found that employers are 72% more likely to hire candidates with professional certificates. The job market is shifting from "what degree do you have" to "what can you demonstrably do." Microcredentials answer that question with verified, specific evidence.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Higher education is responding to employer demand. Every state plus DC has institutions offering microcredentials. More than half of higher ed leaders have already integrated them into curricula. And 82% plan to offer them for academic credit within five years—that's where this is heading. Sixteen states have established formal credential value frameworks. FTCC is ahead of this curve as a participant in the national "Credential As You Go" initiative, which promotes stackable credentials that students earn incrementally. We're not just following trends; we're helping shape them.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of microcredentials isn't just the individual badge—it's how they stack. This is the "Credential As You Go" model. Students start with micro-credentials representing 5 to 20 hours of work on a single skill. These combine into macro-credentials representing skill clusters. Macro-credentials feed into certificates, which feed into degrees. At FTCC, we have this fully implemented in Industrial Systems: students earn OSHA-10 and Industrial Hazards badges, which combine into an Industrial Safety macro-credential, which counts toward the Industrial Systems Certificate, which counts toward the AAS degree. At every step, students have something to show employers. They're never "almost done"—they're always credentialed at their current level.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why I'm really here—the intersection of microcredentials and transformational skills. The same methodology that created our 17 current badges can validate the soft skills this task force is focused on. Imagine badges for Communication—validated through portfolios and presentations. Critical Thinking—demonstrated through case analyses. Teamwork—evidenced through collaborative projects with peer and supervisor evaluations. Digital Literacy, Financial Literacy, Workplace Ethics. These skills matter to employers across every industry. And here's the key: these badges wouldn't belong to any single department. They'd be embedded across disciplines. An English class could assess communication. A math class could assess financial literacy. A capstone in any program could assess teamwork. This is truly interdisciplinary credentialing.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give you a concrete example. A Communication badge could be earned through multiple pathways. In English Composition, students demonstrate written communication. In Speech, oral communication. In Business courses, professional communication like emails and memos. In any capstone course, a comprehensive portfolio. The badge is the same—validated communication skills—but students have flexibility in how they demonstrate mastery. This respects disciplinary expertise while creating a common credential. Faculty remain the assessors; the badge is simply the portable verification that students can share with employers. This model works for any transformational skill the task force identifies as a priority.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question I often get is "how do you scale this?" The answer is AI-assisted development. I use AI tools to draft skill identifications, assessment options, and rubrics. AI can generate sample student work at different performance levels for calibration. It can even suggest feedback language. But—and this is critical—humans provide the expertise, judgment, and final decisions. AI proposes; faculty dispose. The AI gets us 80% of the way there in minutes instead of hours. Faculty review, refine, and approve. This means we can develop new badges quickly without sacrificing quality. It also means any faculty member can participate—you don't need to be a credentialing expert to create a badge in your discipline.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task force wanted to move forward with transformational skills badges, here's what we'd need. First, you identify the priority skills—maybe start with two or three. Second, we need faculty champions in relevant disciplines who are willing to pilot. Third, we develop rubrics together using the AI-assisted methodology. Fourth, we identify pilot courses for initial implementation. Fifth, we assess, gather data, and iterate. Sixth, we design the actual badges in Credly with appropriate metadata so they're searchable and meaningful to employers. Realistically, if we started today, we could have the first transformational skills badges launching within one semester. The infrastructure exists; we just need to apply it to new skill areas.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share how we measure success. Currently, we track badges issued, badge types, acceptance rates, and disciplinary spread. Moving forward, I'd like to track employment outcomes—do badge earners get hired faster or at higher rates? We should track employer recognition—are employers asking about or for specific badges? Credly provides data on badge views and shares, so we can see engagement on LinkedIn and other platforms. Student satisfaction tells us if they find value in the credentials. And faculty adoption rates tell us if the methodology is truly scalable. The task force could help define what success metrics matter most for transformational skills specifically.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built an interactive dashboard where you can explore everything I've shared today. The URL is amlw05.github.io/microcreds—I'll share this in the chat or you can scan the QR code. The dashboard includes our real-time statistics, the interdisciplinary breakdown we discussed, a course integration analyzer, pathway visualizations, and documentation of the AI methodology. There's also a section specifically on transformational skills opportunities. I encourage you to explore it and share it with colleagues who might be interested in bringing microcredentials to their programs.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love to open this up for discussion. I have some questions for you: Which transformational skills does the task force see as highest priority? Are there programs or courses that might be natural pilots for transformational skills badges? What concerns or barriers should we think about—I want to address those proactively. And how might microcredentials support initiatives you're already working on? I'm here as a resource and a partner. Microcredentials are a tool, and tools are most powerful when they serve a shared vision. I believe the transformational skills mission and the microcredentialing infrastructure are a natural fit, and I'm excited to explore what we can build together. Thank you.</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amlw05.github.io/microcreds/"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hyperlink" Target="mailto:westmora@faytechcc.edu"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hyperlink" Target="https://www.credly.com/organizations/fayetteville-technical-community-college/badges" TargetMode="External"/><Relationship Id="rId4" Type="http://schemas.openxmlformats.org/officeDocument/2006/relationships/hyperlink" Target="https://amlw05.github.io/microcred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008080"/>
          </a:solidFill>
          <a:ln/>
        </p:spPr>
        <p:txBody>
          <a:bodyPr/>
          <a:lstStyle/>
          <a:p>
            <a:endParaRPr lang="en-US"/>
          </a:p>
        </p:txBody>
      </p:sp>
      <p:sp>
        <p:nvSpPr>
          <p:cNvPr id="3" name="Shape 1"/>
          <p:cNvSpPr/>
          <p:nvPr/>
        </p:nvSpPr>
        <p:spPr>
          <a:xfrm>
            <a:off x="0" y="5006340"/>
            <a:ext cx="9144000" cy="137160"/>
          </a:xfrm>
          <a:prstGeom prst="rect">
            <a:avLst/>
          </a:prstGeom>
          <a:solidFill>
            <a:srgbClr val="FF6600"/>
          </a:solidFill>
          <a:ln/>
        </p:spPr>
        <p:txBody>
          <a:bodyPr/>
          <a:lstStyle/>
          <a:p>
            <a:endParaRPr lang="en-US"/>
          </a:p>
        </p:txBody>
      </p:sp>
      <p:sp>
        <p:nvSpPr>
          <p:cNvPr id="4" name="Text 2"/>
          <p:cNvSpPr/>
          <p:nvPr/>
        </p:nvSpPr>
        <p:spPr>
          <a:xfrm>
            <a:off x="457200" y="1188720"/>
            <a:ext cx="8229600" cy="731520"/>
          </a:xfrm>
          <a:prstGeom prst="rect">
            <a:avLst/>
          </a:prstGeom>
          <a:noFill/>
          <a:ln/>
        </p:spPr>
        <p:txBody>
          <a:bodyPr wrap="square" rtlCol="0" anchor="ctr"/>
          <a:lstStyle/>
          <a:p>
            <a:pPr marL="0" indent="0" algn="ctr">
              <a:buNone/>
            </a:pPr>
            <a:r>
              <a:rPr lang="en-US" sz="4400" b="1" dirty="0">
                <a:solidFill>
                  <a:srgbClr val="000000"/>
                </a:solidFill>
                <a:latin typeface="Times New Roman" pitchFamily="34" charset="0"/>
                <a:ea typeface="Times New Roman" pitchFamily="34" charset="-122"/>
                <a:cs typeface="Times New Roman" pitchFamily="34" charset="-120"/>
              </a:rPr>
              <a:t>Microcredentialing at FTCC</a:t>
            </a:r>
            <a:endParaRPr lang="en-US" sz="4400" dirty="0"/>
          </a:p>
        </p:txBody>
      </p:sp>
      <p:sp>
        <p:nvSpPr>
          <p:cNvPr id="5" name="Text 3"/>
          <p:cNvSpPr/>
          <p:nvPr/>
        </p:nvSpPr>
        <p:spPr>
          <a:xfrm>
            <a:off x="457200" y="1920240"/>
            <a:ext cx="8229600" cy="457200"/>
          </a:xfrm>
          <a:prstGeom prst="rect">
            <a:avLst/>
          </a:prstGeom>
          <a:noFill/>
          <a:ln/>
        </p:spPr>
        <p:txBody>
          <a:bodyPr wrap="square" rtlCol="0" anchor="ctr"/>
          <a:lstStyle/>
          <a:p>
            <a:pPr marL="0" indent="0" algn="ctr">
              <a:buNone/>
            </a:pPr>
            <a:r>
              <a:rPr lang="en-US" sz="2800" dirty="0">
                <a:solidFill>
                  <a:srgbClr val="008080"/>
                </a:solidFill>
                <a:latin typeface="Times New Roman" pitchFamily="34" charset="0"/>
                <a:ea typeface="Times New Roman" pitchFamily="34" charset="-122"/>
                <a:cs typeface="Times New Roman" pitchFamily="34" charset="-120"/>
              </a:rPr>
              <a:t>An Interdisciplinary Success Story</a:t>
            </a:r>
            <a:endParaRPr lang="en-US" sz="2800" dirty="0"/>
          </a:p>
        </p:txBody>
      </p:sp>
      <p:sp>
        <p:nvSpPr>
          <p:cNvPr id="6" name="Shape 4"/>
          <p:cNvSpPr/>
          <p:nvPr/>
        </p:nvSpPr>
        <p:spPr>
          <a:xfrm>
            <a:off x="2743200" y="2560320"/>
            <a:ext cx="3657600" cy="548640"/>
          </a:xfrm>
          <a:prstGeom prst="rect">
            <a:avLst/>
          </a:prstGeom>
          <a:solidFill>
            <a:srgbClr val="FFF3E0"/>
          </a:solidFill>
          <a:ln/>
        </p:spPr>
        <p:txBody>
          <a:bodyPr/>
          <a:lstStyle/>
          <a:p>
            <a:endParaRPr lang="en-US"/>
          </a:p>
        </p:txBody>
      </p:sp>
      <p:sp>
        <p:nvSpPr>
          <p:cNvPr id="7" name="Text 5"/>
          <p:cNvSpPr/>
          <p:nvPr/>
        </p:nvSpPr>
        <p:spPr>
          <a:xfrm>
            <a:off x="2743200" y="2560320"/>
            <a:ext cx="3657600" cy="548640"/>
          </a:xfrm>
          <a:prstGeom prst="rect">
            <a:avLst/>
          </a:prstGeom>
          <a:noFill/>
          <a:ln/>
        </p:spPr>
        <p:txBody>
          <a:bodyPr wrap="square" rtlCol="0" anchor="ctr"/>
          <a:lstStyle/>
          <a:p>
            <a:pPr marL="0" indent="0" algn="ctr">
              <a:buNone/>
            </a:pPr>
            <a:r>
              <a:rPr lang="en-US" sz="1600" b="1" dirty="0">
                <a:solidFill>
                  <a:srgbClr val="FF6600"/>
                </a:solidFill>
                <a:latin typeface="Times New Roman" pitchFamily="34" charset="0"/>
                <a:ea typeface="Times New Roman" pitchFamily="34" charset="-122"/>
                <a:cs typeface="Times New Roman" pitchFamily="34" charset="-120"/>
              </a:rPr>
              <a:t>From Zero to 1,014 Badges in Under Two Years</a:t>
            </a:r>
            <a:endParaRPr lang="en-US" sz="1600" dirty="0"/>
          </a:p>
        </p:txBody>
      </p:sp>
      <p:sp>
        <p:nvSpPr>
          <p:cNvPr id="8" name="Text 6"/>
          <p:cNvSpPr/>
          <p:nvPr/>
        </p:nvSpPr>
        <p:spPr>
          <a:xfrm>
            <a:off x="457200" y="3474720"/>
            <a:ext cx="8229600" cy="365760"/>
          </a:xfrm>
          <a:prstGeom prst="rect">
            <a:avLst/>
          </a:prstGeom>
          <a:noFill/>
          <a:ln/>
        </p:spPr>
        <p:txBody>
          <a:bodyPr wrap="square" rtlCol="0" anchor="ct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Angela Westmoreland, M.Ed.</a:t>
            </a:r>
            <a:endParaRPr lang="en-US" sz="2000" dirty="0"/>
          </a:p>
        </p:txBody>
      </p:sp>
      <p:sp>
        <p:nvSpPr>
          <p:cNvPr id="9" name="Text 7"/>
          <p:cNvSpPr/>
          <p:nvPr/>
        </p:nvSpPr>
        <p:spPr>
          <a:xfrm>
            <a:off x="457200" y="3840480"/>
            <a:ext cx="8229600" cy="320040"/>
          </a:xfrm>
          <a:prstGeom prst="rect">
            <a:avLst/>
          </a:prstGeom>
          <a:noFill/>
          <a:ln/>
        </p:spPr>
        <p:txBody>
          <a:bodyPr wrap="square" rtlCol="0" anchor="ctr"/>
          <a:lstStyle/>
          <a:p>
            <a:pPr marL="0" indent="0" algn="ctr">
              <a:buNone/>
            </a:pPr>
            <a:r>
              <a:rPr lang="en-US" sz="1600" dirty="0">
                <a:solidFill>
                  <a:srgbClr val="333333"/>
                </a:solidFill>
                <a:latin typeface="Times New Roman" pitchFamily="34" charset="0"/>
                <a:ea typeface="Times New Roman" pitchFamily="34" charset="-122"/>
                <a:cs typeface="Times New Roman" pitchFamily="34" charset="-120"/>
              </a:rPr>
              <a:t>Instructional Support &amp; Quality Assurance Analyst</a:t>
            </a:r>
            <a:endParaRPr lang="en-US" sz="1600" dirty="0"/>
          </a:p>
        </p:txBody>
      </p:sp>
      <p:sp>
        <p:nvSpPr>
          <p:cNvPr id="10" name="Text 8"/>
          <p:cNvSpPr/>
          <p:nvPr/>
        </p:nvSpPr>
        <p:spPr>
          <a:xfrm>
            <a:off x="457200" y="4160520"/>
            <a:ext cx="8229600" cy="320040"/>
          </a:xfrm>
          <a:prstGeom prst="rect">
            <a:avLst/>
          </a:prstGeom>
          <a:noFill/>
          <a:ln/>
        </p:spPr>
        <p:txBody>
          <a:bodyPr wrap="square" rtlCol="0" anchor="ctr"/>
          <a:lstStyle/>
          <a:p>
            <a:pPr marL="0" indent="0" algn="ctr">
              <a:buNone/>
            </a:pPr>
            <a:r>
              <a:rPr lang="en-US" sz="1600" dirty="0">
                <a:solidFill>
                  <a:srgbClr val="008080"/>
                </a:solidFill>
                <a:latin typeface="Times New Roman" pitchFamily="34" charset="0"/>
                <a:ea typeface="Times New Roman" pitchFamily="34" charset="-122"/>
                <a:cs typeface="Times New Roman" pitchFamily="34" charset="-120"/>
              </a:rPr>
              <a:t>Fayetteville Technical Community College</a:t>
            </a:r>
            <a:endParaRPr lang="en-US" sz="1600" dirty="0"/>
          </a:p>
        </p:txBody>
      </p:sp>
      <p:sp>
        <p:nvSpPr>
          <p:cNvPr id="11" name="Text 9"/>
          <p:cNvSpPr/>
          <p:nvPr/>
        </p:nvSpPr>
        <p:spPr>
          <a:xfrm>
            <a:off x="457200" y="4526280"/>
            <a:ext cx="8229600" cy="274320"/>
          </a:xfrm>
          <a:prstGeom prst="rect">
            <a:avLst/>
          </a:prstGeom>
          <a:noFill/>
          <a:ln/>
        </p:spPr>
        <p:txBody>
          <a:bodyPr wrap="square" rtlCol="0" anchor="ctr"/>
          <a:lstStyle/>
          <a:p>
            <a:pPr marL="0" indent="0" algn="ctr">
              <a:buNone/>
            </a:pPr>
            <a:r>
              <a:rPr lang="en-US" sz="1400" dirty="0">
                <a:solidFill>
                  <a:srgbClr val="333333"/>
                </a:solidFill>
                <a:latin typeface="Times New Roman" pitchFamily="34" charset="0"/>
                <a:ea typeface="Times New Roman" pitchFamily="34" charset="-122"/>
                <a:cs typeface="Times New Roman" pitchFamily="34" charset="-120"/>
              </a:rPr>
              <a:t>February 3,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808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The Starting Point: August 2023</a:t>
            </a:r>
            <a:endParaRPr lang="en-US" sz="3200" dirty="0"/>
          </a:p>
        </p:txBody>
      </p:sp>
      <p:sp>
        <p:nvSpPr>
          <p:cNvPr id="4" name="Shape 2"/>
          <p:cNvSpPr/>
          <p:nvPr/>
        </p:nvSpPr>
        <p:spPr>
          <a:xfrm>
            <a:off x="914400" y="1463040"/>
            <a:ext cx="2743200" cy="2743200"/>
          </a:xfrm>
          <a:prstGeom prst="ellipse">
            <a:avLst/>
          </a:prstGeom>
          <a:solidFill>
            <a:srgbClr val="FFF3E0"/>
          </a:solidFill>
          <a:ln/>
        </p:spPr>
        <p:txBody>
          <a:bodyPr/>
          <a:lstStyle/>
          <a:p>
            <a:endParaRPr lang="en-US"/>
          </a:p>
        </p:txBody>
      </p:sp>
      <p:sp>
        <p:nvSpPr>
          <p:cNvPr id="5" name="Text 3"/>
          <p:cNvSpPr/>
          <p:nvPr/>
        </p:nvSpPr>
        <p:spPr>
          <a:xfrm>
            <a:off x="914400" y="1645920"/>
            <a:ext cx="2743200" cy="2377440"/>
          </a:xfrm>
          <a:prstGeom prst="rect">
            <a:avLst/>
          </a:prstGeom>
          <a:noFill/>
          <a:ln/>
        </p:spPr>
        <p:txBody>
          <a:bodyPr wrap="square" rtlCol="0" anchor="ctr"/>
          <a:lstStyle/>
          <a:p>
            <a:pPr marL="0" indent="0" algn="ctr">
              <a:buNone/>
            </a:pPr>
            <a:r>
              <a:rPr lang="en-US" sz="12000" b="1" dirty="0">
                <a:solidFill>
                  <a:srgbClr val="FF6600"/>
                </a:solidFill>
                <a:latin typeface="Times New Roman" pitchFamily="34" charset="0"/>
                <a:ea typeface="Times New Roman" pitchFamily="34" charset="-122"/>
                <a:cs typeface="Times New Roman" pitchFamily="34" charset="-120"/>
              </a:rPr>
              <a:t>0</a:t>
            </a:r>
            <a:endParaRPr lang="en-US" sz="12000" dirty="0"/>
          </a:p>
        </p:txBody>
      </p:sp>
      <p:sp>
        <p:nvSpPr>
          <p:cNvPr id="6" name="Text 4"/>
          <p:cNvSpPr/>
          <p:nvPr/>
        </p:nvSpPr>
        <p:spPr>
          <a:xfrm>
            <a:off x="914400" y="3657600"/>
            <a:ext cx="2743200" cy="365760"/>
          </a:xfrm>
          <a:prstGeom prst="rect">
            <a:avLst/>
          </a:prstGeom>
          <a:noFill/>
          <a:ln/>
        </p:spPr>
        <p:txBody>
          <a:bodyPr wrap="square" rtlCol="0" anchor="ctr"/>
          <a:lstStyle/>
          <a:p>
            <a:pPr marL="0" indent="0" algn="ctr">
              <a:buNone/>
            </a:pPr>
            <a:r>
              <a:rPr lang="en-US" sz="1800" dirty="0">
                <a:solidFill>
                  <a:srgbClr val="FF6600"/>
                </a:solidFill>
                <a:latin typeface="Times New Roman" pitchFamily="34" charset="0"/>
                <a:ea typeface="Times New Roman" pitchFamily="34" charset="-122"/>
                <a:cs typeface="Times New Roman" pitchFamily="34" charset="-120"/>
              </a:rPr>
              <a:t>Badges</a:t>
            </a:r>
            <a:endParaRPr lang="en-US" sz="1800" dirty="0"/>
          </a:p>
        </p:txBody>
      </p:sp>
      <p:sp>
        <p:nvSpPr>
          <p:cNvPr id="7" name="Text 5"/>
          <p:cNvSpPr/>
          <p:nvPr/>
        </p:nvSpPr>
        <p:spPr>
          <a:xfrm>
            <a:off x="4389120" y="1645920"/>
            <a:ext cx="4297680" cy="2560320"/>
          </a:xfrm>
          <a:prstGeom prst="rect">
            <a:avLst/>
          </a:prstGeom>
          <a:noFill/>
          <a:ln/>
        </p:spPr>
        <p:txBody>
          <a:bodyPr wrap="square" rtlCol="0" anchor="ctr"/>
          <a:lstStyle/>
          <a:p>
            <a:pPr marL="342900" indent="-342900">
              <a:spcAft>
                <a:spcPts val="14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End of a 3-year grant cycle</a:t>
            </a:r>
            <a:endParaRPr lang="en-US" sz="1800" dirty="0"/>
          </a:p>
          <a:p>
            <a:pPr marL="342900" indent="-342900">
              <a:spcAft>
                <a:spcPts val="14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Zero badges developed</a:t>
            </a:r>
            <a:endParaRPr lang="en-US" sz="1800" dirty="0"/>
          </a:p>
          <a:p>
            <a:pPr marL="342900" indent="-342900">
              <a:spcAft>
                <a:spcPts val="14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Zero badges issued</a:t>
            </a:r>
            <a:endParaRPr lang="en-US" sz="1800" dirty="0"/>
          </a:p>
          <a:p>
            <a:pPr marL="342900" indent="-342900">
              <a:spcAft>
                <a:spcPts val="14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Infrastructure existed, but no credentials</a:t>
            </a:r>
            <a:endParaRPr lang="en-US" sz="1800" dirty="0"/>
          </a:p>
        </p:txBody>
      </p:sp>
      <p:sp>
        <p:nvSpPr>
          <p:cNvPr id="8" name="Shape 6"/>
          <p:cNvSpPr/>
          <p:nvPr/>
        </p:nvSpPr>
        <p:spPr>
          <a:xfrm>
            <a:off x="457200" y="4572000"/>
            <a:ext cx="8229600" cy="73152"/>
          </a:xfrm>
          <a:prstGeom prst="rect">
            <a:avLst/>
          </a:prstGeom>
          <a:solidFill>
            <a:srgbClr val="008080"/>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808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A Scalable, Replicable Approach</a:t>
            </a:r>
            <a:endParaRPr lang="en-US" sz="3200" dirty="0"/>
          </a:p>
        </p:txBody>
      </p:sp>
      <p:sp>
        <p:nvSpPr>
          <p:cNvPr id="4" name="Shape 2"/>
          <p:cNvSpPr/>
          <p:nvPr/>
        </p:nvSpPr>
        <p:spPr>
          <a:xfrm>
            <a:off x="640080" y="1280160"/>
            <a:ext cx="502920" cy="502920"/>
          </a:xfrm>
          <a:prstGeom prst="ellipse">
            <a:avLst/>
          </a:prstGeom>
          <a:solidFill>
            <a:srgbClr val="FF6600"/>
          </a:solidFill>
          <a:ln/>
        </p:spPr>
        <p:txBody>
          <a:bodyPr/>
          <a:lstStyle/>
          <a:p>
            <a:endParaRPr lang="en-US"/>
          </a:p>
        </p:txBody>
      </p:sp>
      <p:sp>
        <p:nvSpPr>
          <p:cNvPr id="5" name="Text 3"/>
          <p:cNvSpPr/>
          <p:nvPr/>
        </p:nvSpPr>
        <p:spPr>
          <a:xfrm>
            <a:off x="640080" y="1280160"/>
            <a:ext cx="502920" cy="502920"/>
          </a:xfrm>
          <a:prstGeom prst="rect">
            <a:avLst/>
          </a:prstGeom>
          <a:noFill/>
          <a:ln/>
        </p:spPr>
        <p:txBody>
          <a:bodyPr wrap="square"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1</a:t>
            </a:r>
            <a:endParaRPr lang="en-US" sz="2000" dirty="0"/>
          </a:p>
        </p:txBody>
      </p:sp>
      <p:sp>
        <p:nvSpPr>
          <p:cNvPr id="6" name="Text 4"/>
          <p:cNvSpPr/>
          <p:nvPr/>
        </p:nvSpPr>
        <p:spPr>
          <a:xfrm>
            <a:off x="1371600" y="1280160"/>
            <a:ext cx="7315200" cy="502920"/>
          </a:xfrm>
          <a:prstGeom prst="rect">
            <a:avLst/>
          </a:prstGeom>
          <a:noFill/>
          <a:ln/>
        </p:spPr>
        <p:txBody>
          <a:bodyPr wrap="square" rtlCol="0" anchor="ctr"/>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Identify programs and skills eligible for credentialing</a:t>
            </a:r>
            <a:endParaRPr lang="en-US" sz="1800" dirty="0"/>
          </a:p>
        </p:txBody>
      </p:sp>
      <p:sp>
        <p:nvSpPr>
          <p:cNvPr id="7" name="Shape 5"/>
          <p:cNvSpPr/>
          <p:nvPr/>
        </p:nvSpPr>
        <p:spPr>
          <a:xfrm>
            <a:off x="868680" y="1783080"/>
            <a:ext cx="36576" cy="210312"/>
          </a:xfrm>
          <a:prstGeom prst="rect">
            <a:avLst/>
          </a:prstGeom>
          <a:solidFill>
            <a:srgbClr val="008080"/>
          </a:solidFill>
          <a:ln/>
        </p:spPr>
        <p:txBody>
          <a:bodyPr/>
          <a:lstStyle/>
          <a:p>
            <a:endParaRPr lang="en-US"/>
          </a:p>
        </p:txBody>
      </p:sp>
      <p:sp>
        <p:nvSpPr>
          <p:cNvPr id="8" name="Shape 6"/>
          <p:cNvSpPr/>
          <p:nvPr/>
        </p:nvSpPr>
        <p:spPr>
          <a:xfrm>
            <a:off x="640080" y="1993392"/>
            <a:ext cx="502920" cy="502920"/>
          </a:xfrm>
          <a:prstGeom prst="ellipse">
            <a:avLst/>
          </a:prstGeom>
          <a:solidFill>
            <a:srgbClr val="FF6600"/>
          </a:solidFill>
          <a:ln/>
        </p:spPr>
        <p:txBody>
          <a:bodyPr/>
          <a:lstStyle/>
          <a:p>
            <a:endParaRPr lang="en-US"/>
          </a:p>
        </p:txBody>
      </p:sp>
      <p:sp>
        <p:nvSpPr>
          <p:cNvPr id="9" name="Text 7"/>
          <p:cNvSpPr/>
          <p:nvPr/>
        </p:nvSpPr>
        <p:spPr>
          <a:xfrm>
            <a:off x="640080" y="1993392"/>
            <a:ext cx="502920" cy="502920"/>
          </a:xfrm>
          <a:prstGeom prst="rect">
            <a:avLst/>
          </a:prstGeom>
          <a:noFill/>
          <a:ln/>
        </p:spPr>
        <p:txBody>
          <a:bodyPr wrap="square"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2</a:t>
            </a:r>
            <a:endParaRPr lang="en-US" sz="2000" dirty="0"/>
          </a:p>
        </p:txBody>
      </p:sp>
      <p:sp>
        <p:nvSpPr>
          <p:cNvPr id="10" name="Text 8"/>
          <p:cNvSpPr/>
          <p:nvPr/>
        </p:nvSpPr>
        <p:spPr>
          <a:xfrm>
            <a:off x="1371600" y="1993392"/>
            <a:ext cx="7315200" cy="502920"/>
          </a:xfrm>
          <a:prstGeom prst="rect">
            <a:avLst/>
          </a:prstGeom>
          <a:noFill/>
          <a:ln/>
        </p:spPr>
        <p:txBody>
          <a:bodyPr wrap="square" rtlCol="0" anchor="ctr"/>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Use AI to determine specific skill competencies</a:t>
            </a:r>
            <a:endParaRPr lang="en-US" sz="1800" dirty="0"/>
          </a:p>
        </p:txBody>
      </p:sp>
      <p:sp>
        <p:nvSpPr>
          <p:cNvPr id="11" name="Shape 9"/>
          <p:cNvSpPr/>
          <p:nvPr/>
        </p:nvSpPr>
        <p:spPr>
          <a:xfrm>
            <a:off x="868680" y="2496312"/>
            <a:ext cx="36576" cy="210312"/>
          </a:xfrm>
          <a:prstGeom prst="rect">
            <a:avLst/>
          </a:prstGeom>
          <a:solidFill>
            <a:srgbClr val="008080"/>
          </a:solidFill>
          <a:ln/>
        </p:spPr>
        <p:txBody>
          <a:bodyPr/>
          <a:lstStyle/>
          <a:p>
            <a:endParaRPr lang="en-US"/>
          </a:p>
        </p:txBody>
      </p:sp>
      <p:sp>
        <p:nvSpPr>
          <p:cNvPr id="12" name="Shape 10"/>
          <p:cNvSpPr/>
          <p:nvPr/>
        </p:nvSpPr>
        <p:spPr>
          <a:xfrm>
            <a:off x="640080" y="2706624"/>
            <a:ext cx="502920" cy="502920"/>
          </a:xfrm>
          <a:prstGeom prst="ellipse">
            <a:avLst/>
          </a:prstGeom>
          <a:solidFill>
            <a:srgbClr val="FF6600"/>
          </a:solidFill>
          <a:ln/>
        </p:spPr>
        <p:txBody>
          <a:bodyPr/>
          <a:lstStyle/>
          <a:p>
            <a:endParaRPr lang="en-US"/>
          </a:p>
        </p:txBody>
      </p:sp>
      <p:sp>
        <p:nvSpPr>
          <p:cNvPr id="13" name="Text 11"/>
          <p:cNvSpPr/>
          <p:nvPr/>
        </p:nvSpPr>
        <p:spPr>
          <a:xfrm>
            <a:off x="640080" y="2706624"/>
            <a:ext cx="502920" cy="502920"/>
          </a:xfrm>
          <a:prstGeom prst="rect">
            <a:avLst/>
          </a:prstGeom>
          <a:noFill/>
          <a:ln/>
        </p:spPr>
        <p:txBody>
          <a:bodyPr wrap="square"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3</a:t>
            </a:r>
            <a:endParaRPr lang="en-US" sz="2000" dirty="0"/>
          </a:p>
        </p:txBody>
      </p:sp>
      <p:sp>
        <p:nvSpPr>
          <p:cNvPr id="14" name="Text 12"/>
          <p:cNvSpPr/>
          <p:nvPr/>
        </p:nvSpPr>
        <p:spPr>
          <a:xfrm>
            <a:off x="1371600" y="2706624"/>
            <a:ext cx="7315200" cy="502920"/>
          </a:xfrm>
          <a:prstGeom prst="rect">
            <a:avLst/>
          </a:prstGeom>
          <a:noFill/>
          <a:ln/>
        </p:spPr>
        <p:txBody>
          <a:bodyPr wrap="square" rtlCol="0" anchor="ctr"/>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Design assessment options with AI assistance</a:t>
            </a:r>
            <a:endParaRPr lang="en-US" sz="1800" dirty="0"/>
          </a:p>
        </p:txBody>
      </p:sp>
      <p:sp>
        <p:nvSpPr>
          <p:cNvPr id="15" name="Shape 13"/>
          <p:cNvSpPr/>
          <p:nvPr/>
        </p:nvSpPr>
        <p:spPr>
          <a:xfrm>
            <a:off x="868680" y="3209544"/>
            <a:ext cx="36576" cy="210312"/>
          </a:xfrm>
          <a:prstGeom prst="rect">
            <a:avLst/>
          </a:prstGeom>
          <a:solidFill>
            <a:srgbClr val="008080"/>
          </a:solidFill>
          <a:ln/>
        </p:spPr>
        <p:txBody>
          <a:bodyPr/>
          <a:lstStyle/>
          <a:p>
            <a:endParaRPr lang="en-US"/>
          </a:p>
        </p:txBody>
      </p:sp>
      <p:sp>
        <p:nvSpPr>
          <p:cNvPr id="16" name="Shape 14"/>
          <p:cNvSpPr/>
          <p:nvPr/>
        </p:nvSpPr>
        <p:spPr>
          <a:xfrm>
            <a:off x="640080" y="3419856"/>
            <a:ext cx="502920" cy="502920"/>
          </a:xfrm>
          <a:prstGeom prst="ellipse">
            <a:avLst/>
          </a:prstGeom>
          <a:solidFill>
            <a:srgbClr val="FF6600"/>
          </a:solidFill>
          <a:ln/>
        </p:spPr>
        <p:txBody>
          <a:bodyPr/>
          <a:lstStyle/>
          <a:p>
            <a:endParaRPr lang="en-US"/>
          </a:p>
        </p:txBody>
      </p:sp>
      <p:sp>
        <p:nvSpPr>
          <p:cNvPr id="17" name="Text 15"/>
          <p:cNvSpPr/>
          <p:nvPr/>
        </p:nvSpPr>
        <p:spPr>
          <a:xfrm>
            <a:off x="640080" y="3419856"/>
            <a:ext cx="502920" cy="502920"/>
          </a:xfrm>
          <a:prstGeom prst="rect">
            <a:avLst/>
          </a:prstGeom>
          <a:noFill/>
          <a:ln/>
        </p:spPr>
        <p:txBody>
          <a:bodyPr wrap="square"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4</a:t>
            </a:r>
            <a:endParaRPr lang="en-US" sz="2000" dirty="0"/>
          </a:p>
        </p:txBody>
      </p:sp>
      <p:sp>
        <p:nvSpPr>
          <p:cNvPr id="18" name="Text 16"/>
          <p:cNvSpPr/>
          <p:nvPr/>
        </p:nvSpPr>
        <p:spPr>
          <a:xfrm>
            <a:off x="1371600" y="3419856"/>
            <a:ext cx="7315200" cy="502920"/>
          </a:xfrm>
          <a:prstGeom prst="rect">
            <a:avLst/>
          </a:prstGeom>
          <a:noFill/>
          <a:ln/>
        </p:spPr>
        <p:txBody>
          <a:bodyPr wrap="square" rtlCol="0" anchor="ctr"/>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Create evaluation rubrics (single-point recommended)</a:t>
            </a:r>
            <a:endParaRPr lang="en-US" sz="1800" dirty="0"/>
          </a:p>
        </p:txBody>
      </p:sp>
      <p:sp>
        <p:nvSpPr>
          <p:cNvPr id="19" name="Shape 17"/>
          <p:cNvSpPr/>
          <p:nvPr/>
        </p:nvSpPr>
        <p:spPr>
          <a:xfrm>
            <a:off x="868680" y="3922776"/>
            <a:ext cx="36576" cy="210312"/>
          </a:xfrm>
          <a:prstGeom prst="rect">
            <a:avLst/>
          </a:prstGeom>
          <a:solidFill>
            <a:srgbClr val="008080"/>
          </a:solidFill>
          <a:ln/>
        </p:spPr>
        <p:txBody>
          <a:bodyPr/>
          <a:lstStyle/>
          <a:p>
            <a:endParaRPr lang="en-US"/>
          </a:p>
        </p:txBody>
      </p:sp>
      <p:sp>
        <p:nvSpPr>
          <p:cNvPr id="20" name="Shape 18"/>
          <p:cNvSpPr/>
          <p:nvPr/>
        </p:nvSpPr>
        <p:spPr>
          <a:xfrm>
            <a:off x="640080" y="4133088"/>
            <a:ext cx="502920" cy="502920"/>
          </a:xfrm>
          <a:prstGeom prst="ellipse">
            <a:avLst/>
          </a:prstGeom>
          <a:solidFill>
            <a:srgbClr val="FF6600"/>
          </a:solidFill>
          <a:ln/>
        </p:spPr>
        <p:txBody>
          <a:bodyPr/>
          <a:lstStyle/>
          <a:p>
            <a:endParaRPr lang="en-US"/>
          </a:p>
        </p:txBody>
      </p:sp>
      <p:sp>
        <p:nvSpPr>
          <p:cNvPr id="21" name="Text 19"/>
          <p:cNvSpPr/>
          <p:nvPr/>
        </p:nvSpPr>
        <p:spPr>
          <a:xfrm>
            <a:off x="640080" y="4133088"/>
            <a:ext cx="502920" cy="502920"/>
          </a:xfrm>
          <a:prstGeom prst="rect">
            <a:avLst/>
          </a:prstGeom>
          <a:noFill/>
          <a:ln/>
        </p:spPr>
        <p:txBody>
          <a:bodyPr wrap="square"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5</a:t>
            </a:r>
            <a:endParaRPr lang="en-US" sz="2000" dirty="0"/>
          </a:p>
        </p:txBody>
      </p:sp>
      <p:sp>
        <p:nvSpPr>
          <p:cNvPr id="22" name="Text 20"/>
          <p:cNvSpPr/>
          <p:nvPr/>
        </p:nvSpPr>
        <p:spPr>
          <a:xfrm>
            <a:off x="1371600" y="4133088"/>
            <a:ext cx="7315200" cy="502920"/>
          </a:xfrm>
          <a:prstGeom prst="rect">
            <a:avLst/>
          </a:prstGeom>
          <a:noFill/>
          <a:ln/>
        </p:spPr>
        <p:txBody>
          <a:bodyPr wrap="square" rtlCol="0" anchor="ctr"/>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Establish mastery criteria and issue via Credly</a:t>
            </a:r>
            <a:endParaRPr lang="en-US" sz="1800" dirty="0"/>
          </a:p>
        </p:txBody>
      </p:sp>
      <p:sp>
        <p:nvSpPr>
          <p:cNvPr id="23" name="Shape 21"/>
          <p:cNvSpPr/>
          <p:nvPr/>
        </p:nvSpPr>
        <p:spPr>
          <a:xfrm>
            <a:off x="7772400" y="4206240"/>
            <a:ext cx="731520" cy="731520"/>
          </a:xfrm>
          <a:prstGeom prst="ellipse">
            <a:avLst/>
          </a:prstGeom>
          <a:solidFill>
            <a:srgbClr val="008080"/>
          </a:solidFill>
          <a:ln/>
        </p:spPr>
        <p:txBody>
          <a:bodyPr/>
          <a:lstStyle/>
          <a:p>
            <a:endParaRPr lang="en-US"/>
          </a:p>
        </p:txBody>
      </p:sp>
      <p:sp>
        <p:nvSpPr>
          <p:cNvPr id="24" name="Text 22"/>
          <p:cNvSpPr/>
          <p:nvPr/>
        </p:nvSpPr>
        <p:spPr>
          <a:xfrm>
            <a:off x="7772400" y="4206240"/>
            <a:ext cx="731520" cy="731520"/>
          </a:xfrm>
          <a:prstGeom prst="rect">
            <a:avLst/>
          </a:prstGeom>
          <a:noFill/>
          <a:ln/>
        </p:spPr>
        <p:txBody>
          <a:bodyPr wrap="square"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AI</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F660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From Zero to 1,014 Badges</a:t>
            </a:r>
            <a:endParaRPr lang="en-US" sz="3200" dirty="0"/>
          </a:p>
        </p:txBody>
      </p:sp>
      <p:sp>
        <p:nvSpPr>
          <p:cNvPr id="4" name="Shape 2"/>
          <p:cNvSpPr/>
          <p:nvPr/>
        </p:nvSpPr>
        <p:spPr>
          <a:xfrm>
            <a:off x="457200" y="2743200"/>
            <a:ext cx="8229600" cy="91440"/>
          </a:xfrm>
          <a:prstGeom prst="rect">
            <a:avLst/>
          </a:prstGeom>
          <a:solidFill>
            <a:srgbClr val="008080"/>
          </a:solidFill>
          <a:ln/>
        </p:spPr>
        <p:txBody>
          <a:bodyPr/>
          <a:lstStyle/>
          <a:p>
            <a:endParaRPr lang="en-US"/>
          </a:p>
        </p:txBody>
      </p:sp>
      <p:sp>
        <p:nvSpPr>
          <p:cNvPr id="5" name="Shape 3"/>
          <p:cNvSpPr/>
          <p:nvPr/>
        </p:nvSpPr>
        <p:spPr>
          <a:xfrm>
            <a:off x="822960" y="2514600"/>
            <a:ext cx="548640" cy="548640"/>
          </a:xfrm>
          <a:prstGeom prst="ellipse">
            <a:avLst/>
          </a:prstGeom>
          <a:solidFill>
            <a:srgbClr val="FF6600"/>
          </a:solidFill>
          <a:ln/>
        </p:spPr>
        <p:txBody>
          <a:bodyPr/>
          <a:lstStyle/>
          <a:p>
            <a:endParaRPr lang="en-US"/>
          </a:p>
        </p:txBody>
      </p:sp>
      <p:sp>
        <p:nvSpPr>
          <p:cNvPr id="6" name="Text 4"/>
          <p:cNvSpPr/>
          <p:nvPr/>
        </p:nvSpPr>
        <p:spPr>
          <a:xfrm>
            <a:off x="274320" y="1645920"/>
            <a:ext cx="1645920" cy="365760"/>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August 2023</a:t>
            </a:r>
            <a:endParaRPr lang="en-US" sz="1400" dirty="0"/>
          </a:p>
        </p:txBody>
      </p:sp>
      <p:sp>
        <p:nvSpPr>
          <p:cNvPr id="7" name="Text 5"/>
          <p:cNvSpPr/>
          <p:nvPr/>
        </p:nvSpPr>
        <p:spPr>
          <a:xfrm>
            <a:off x="274320" y="1965960"/>
            <a:ext cx="1645920" cy="502920"/>
          </a:xfrm>
          <a:prstGeom prst="rect">
            <a:avLst/>
          </a:prstGeom>
          <a:noFill/>
          <a:ln/>
        </p:spPr>
        <p:txBody>
          <a:bodyPr wrap="square" rtlCol="0" anchor="ctr"/>
          <a:lstStyle/>
          <a:p>
            <a:pPr marL="0" indent="0" algn="ctr">
              <a:buNone/>
            </a:pPr>
            <a:r>
              <a:rPr lang="en-US" sz="1200" dirty="0">
                <a:solidFill>
                  <a:srgbClr val="333333"/>
                </a:solidFill>
                <a:latin typeface="Times New Roman" pitchFamily="34" charset="0"/>
                <a:ea typeface="Times New Roman" pitchFamily="34" charset="-122"/>
                <a:cs typeface="Times New Roman" pitchFamily="34" charset="-120"/>
              </a:rPr>
              <a:t>0 badges</a:t>
            </a:r>
            <a:endParaRPr lang="en-US" sz="1200" dirty="0"/>
          </a:p>
          <a:p>
            <a:pPr marL="0" indent="0" algn="ctr">
              <a:buNone/>
            </a:pPr>
            <a:r>
              <a:rPr lang="en-US" sz="1200" dirty="0">
                <a:solidFill>
                  <a:srgbClr val="333333"/>
                </a:solidFill>
                <a:latin typeface="Times New Roman" pitchFamily="34" charset="0"/>
                <a:ea typeface="Times New Roman" pitchFamily="34" charset="-122"/>
                <a:cs typeface="Times New Roman" pitchFamily="34" charset="-120"/>
              </a:rPr>
              <a:t>End of grant</a:t>
            </a:r>
            <a:endParaRPr lang="en-US" sz="1200" dirty="0"/>
          </a:p>
        </p:txBody>
      </p:sp>
      <p:sp>
        <p:nvSpPr>
          <p:cNvPr id="8" name="Shape 6"/>
          <p:cNvSpPr/>
          <p:nvPr/>
        </p:nvSpPr>
        <p:spPr>
          <a:xfrm>
            <a:off x="4069080" y="2514600"/>
            <a:ext cx="548640" cy="548640"/>
          </a:xfrm>
          <a:prstGeom prst="ellipse">
            <a:avLst/>
          </a:prstGeom>
          <a:solidFill>
            <a:srgbClr val="FF6600"/>
          </a:solidFill>
          <a:ln/>
        </p:spPr>
        <p:txBody>
          <a:bodyPr/>
          <a:lstStyle/>
          <a:p>
            <a:endParaRPr lang="en-US"/>
          </a:p>
        </p:txBody>
      </p:sp>
      <p:sp>
        <p:nvSpPr>
          <p:cNvPr id="9" name="Text 7"/>
          <p:cNvSpPr/>
          <p:nvPr/>
        </p:nvSpPr>
        <p:spPr>
          <a:xfrm>
            <a:off x="3520440" y="1645920"/>
            <a:ext cx="1645920" cy="365760"/>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Spring 2024</a:t>
            </a:r>
            <a:endParaRPr lang="en-US" sz="1400" dirty="0"/>
          </a:p>
        </p:txBody>
      </p:sp>
      <p:sp>
        <p:nvSpPr>
          <p:cNvPr id="10" name="Text 8"/>
          <p:cNvSpPr/>
          <p:nvPr/>
        </p:nvSpPr>
        <p:spPr>
          <a:xfrm>
            <a:off x="3520440" y="1965960"/>
            <a:ext cx="1645920" cy="502920"/>
          </a:xfrm>
          <a:prstGeom prst="rect">
            <a:avLst/>
          </a:prstGeom>
          <a:noFill/>
          <a:ln/>
        </p:spPr>
        <p:txBody>
          <a:bodyPr wrap="square" rtlCol="0" anchor="ctr"/>
          <a:lstStyle/>
          <a:p>
            <a:pPr marL="0" indent="0" algn="ctr">
              <a:buNone/>
            </a:pPr>
            <a:r>
              <a:rPr lang="en-US" sz="1200" dirty="0">
                <a:solidFill>
                  <a:srgbClr val="333333"/>
                </a:solidFill>
                <a:latin typeface="Times New Roman" pitchFamily="34" charset="0"/>
                <a:ea typeface="Times New Roman" pitchFamily="34" charset="-122"/>
                <a:cs typeface="Times New Roman" pitchFamily="34" charset="-120"/>
              </a:rPr>
              <a:t>First badges</a:t>
            </a:r>
            <a:endParaRPr lang="en-US" sz="1200" dirty="0"/>
          </a:p>
          <a:p>
            <a:pPr marL="0" indent="0" algn="ctr">
              <a:buNone/>
            </a:pPr>
            <a:r>
              <a:rPr lang="en-US" sz="1200" dirty="0">
                <a:solidFill>
                  <a:srgbClr val="333333"/>
                </a:solidFill>
                <a:latin typeface="Times New Roman" pitchFamily="34" charset="0"/>
                <a:ea typeface="Times New Roman" pitchFamily="34" charset="-122"/>
                <a:cs typeface="Times New Roman" pitchFamily="34" charset="-120"/>
              </a:rPr>
              <a:t>issued</a:t>
            </a:r>
            <a:endParaRPr lang="en-US" sz="1200" dirty="0"/>
          </a:p>
        </p:txBody>
      </p:sp>
      <p:sp>
        <p:nvSpPr>
          <p:cNvPr id="11" name="Shape 9"/>
          <p:cNvSpPr/>
          <p:nvPr/>
        </p:nvSpPr>
        <p:spPr>
          <a:xfrm>
            <a:off x="7315200" y="2514600"/>
            <a:ext cx="548640" cy="548640"/>
          </a:xfrm>
          <a:prstGeom prst="ellipse">
            <a:avLst/>
          </a:prstGeom>
          <a:solidFill>
            <a:srgbClr val="FF6600"/>
          </a:solidFill>
          <a:ln/>
        </p:spPr>
        <p:txBody>
          <a:bodyPr/>
          <a:lstStyle/>
          <a:p>
            <a:endParaRPr lang="en-US"/>
          </a:p>
        </p:txBody>
      </p:sp>
      <p:sp>
        <p:nvSpPr>
          <p:cNvPr id="12" name="Text 10"/>
          <p:cNvSpPr/>
          <p:nvPr/>
        </p:nvSpPr>
        <p:spPr>
          <a:xfrm>
            <a:off x="6766560" y="1645920"/>
            <a:ext cx="1645920" cy="365760"/>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February 2026</a:t>
            </a:r>
            <a:endParaRPr lang="en-US" sz="1400" dirty="0"/>
          </a:p>
        </p:txBody>
      </p:sp>
      <p:sp>
        <p:nvSpPr>
          <p:cNvPr id="13" name="Text 11"/>
          <p:cNvSpPr/>
          <p:nvPr/>
        </p:nvSpPr>
        <p:spPr>
          <a:xfrm>
            <a:off x="6766560" y="1965960"/>
            <a:ext cx="1645920" cy="320040"/>
          </a:xfrm>
          <a:prstGeom prst="rect">
            <a:avLst/>
          </a:prstGeom>
          <a:noFill/>
          <a:ln/>
        </p:spPr>
        <p:txBody>
          <a:bodyPr wrap="square" rtlCol="0" anchor="ctr"/>
          <a:lstStyle/>
          <a:p>
            <a:pPr marL="0" indent="0" algn="ctr">
              <a:buNone/>
            </a:pPr>
            <a:r>
              <a:rPr lang="en-US" sz="1200" dirty="0">
                <a:solidFill>
                  <a:srgbClr val="333333"/>
                </a:solidFill>
                <a:latin typeface="Times New Roman" pitchFamily="34" charset="0"/>
                <a:ea typeface="Times New Roman" pitchFamily="34" charset="-122"/>
                <a:cs typeface="Times New Roman" pitchFamily="34" charset="-120"/>
              </a:rPr>
              <a:t>Today</a:t>
            </a:r>
            <a:endParaRPr lang="en-US" sz="1200" dirty="0"/>
          </a:p>
        </p:txBody>
      </p:sp>
      <p:sp>
        <p:nvSpPr>
          <p:cNvPr id="14" name="Shape 12"/>
          <p:cNvSpPr/>
          <p:nvPr/>
        </p:nvSpPr>
        <p:spPr>
          <a:xfrm>
            <a:off x="1371600" y="3291840"/>
            <a:ext cx="6400800" cy="1463040"/>
          </a:xfrm>
          <a:prstGeom prst="rect">
            <a:avLst/>
          </a:prstGeom>
          <a:solidFill>
            <a:srgbClr val="E0F2F1"/>
          </a:solidFill>
          <a:ln/>
        </p:spPr>
        <p:txBody>
          <a:bodyPr/>
          <a:lstStyle/>
          <a:p>
            <a:endParaRPr lang="en-US"/>
          </a:p>
        </p:txBody>
      </p:sp>
      <p:sp>
        <p:nvSpPr>
          <p:cNvPr id="15" name="Text 13"/>
          <p:cNvSpPr/>
          <p:nvPr/>
        </p:nvSpPr>
        <p:spPr>
          <a:xfrm>
            <a:off x="1645920" y="3383280"/>
            <a:ext cx="1828800" cy="731520"/>
          </a:xfrm>
          <a:prstGeom prst="rect">
            <a:avLst/>
          </a:prstGeom>
          <a:noFill/>
          <a:ln/>
        </p:spPr>
        <p:txBody>
          <a:bodyPr wrap="square" rtlCol="0" anchor="ctr"/>
          <a:lstStyle/>
          <a:p>
            <a:pPr marL="0" indent="0" algn="ctr">
              <a:buNone/>
            </a:pPr>
            <a:r>
              <a:rPr lang="en-US" sz="4200" b="1" dirty="0">
                <a:solidFill>
                  <a:srgbClr val="FF6600"/>
                </a:solidFill>
                <a:latin typeface="Times New Roman" pitchFamily="34" charset="0"/>
                <a:ea typeface="Times New Roman" pitchFamily="34" charset="-122"/>
                <a:cs typeface="Times New Roman" pitchFamily="34" charset="-120"/>
              </a:rPr>
              <a:t>1,014</a:t>
            </a:r>
            <a:endParaRPr lang="en-US" sz="4200" dirty="0"/>
          </a:p>
        </p:txBody>
      </p:sp>
      <p:sp>
        <p:nvSpPr>
          <p:cNvPr id="16" name="Text 14"/>
          <p:cNvSpPr/>
          <p:nvPr/>
        </p:nvSpPr>
        <p:spPr>
          <a:xfrm>
            <a:off x="1645920" y="4023360"/>
            <a:ext cx="1828800" cy="365760"/>
          </a:xfrm>
          <a:prstGeom prst="rect">
            <a:avLst/>
          </a:prstGeom>
          <a:noFill/>
          <a:ln/>
        </p:spPr>
        <p:txBody>
          <a:bodyPr wrap="square" rtlCol="0" anchor="ct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badges issued</a:t>
            </a:r>
            <a:endParaRPr lang="en-US" sz="1400" dirty="0"/>
          </a:p>
        </p:txBody>
      </p:sp>
      <p:sp>
        <p:nvSpPr>
          <p:cNvPr id="17" name="Text 15"/>
          <p:cNvSpPr/>
          <p:nvPr/>
        </p:nvSpPr>
        <p:spPr>
          <a:xfrm>
            <a:off x="3657600" y="3383280"/>
            <a:ext cx="1828800" cy="731520"/>
          </a:xfrm>
          <a:prstGeom prst="rect">
            <a:avLst/>
          </a:prstGeom>
          <a:noFill/>
          <a:ln/>
        </p:spPr>
        <p:txBody>
          <a:bodyPr wrap="square" rtlCol="0" anchor="ctr"/>
          <a:lstStyle/>
          <a:p>
            <a:pPr marL="0" indent="0" algn="ctr">
              <a:buNone/>
            </a:pPr>
            <a:r>
              <a:rPr lang="en-US" sz="4200" b="1" dirty="0">
                <a:solidFill>
                  <a:srgbClr val="008080"/>
                </a:solidFill>
                <a:latin typeface="Times New Roman" pitchFamily="34" charset="0"/>
                <a:ea typeface="Times New Roman" pitchFamily="34" charset="-122"/>
                <a:cs typeface="Times New Roman" pitchFamily="34" charset="-120"/>
              </a:rPr>
              <a:t>17</a:t>
            </a:r>
            <a:endParaRPr lang="en-US" sz="4200" dirty="0"/>
          </a:p>
        </p:txBody>
      </p:sp>
      <p:sp>
        <p:nvSpPr>
          <p:cNvPr id="18" name="Text 16"/>
          <p:cNvSpPr/>
          <p:nvPr/>
        </p:nvSpPr>
        <p:spPr>
          <a:xfrm>
            <a:off x="3657600" y="4023360"/>
            <a:ext cx="1828800" cy="365760"/>
          </a:xfrm>
          <a:prstGeom prst="rect">
            <a:avLst/>
          </a:prstGeom>
          <a:noFill/>
          <a:ln/>
        </p:spPr>
        <p:txBody>
          <a:bodyPr wrap="square" rtlCol="0" anchor="ct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badge types</a:t>
            </a:r>
            <a:endParaRPr lang="en-US" sz="1400" dirty="0"/>
          </a:p>
        </p:txBody>
      </p:sp>
      <p:sp>
        <p:nvSpPr>
          <p:cNvPr id="19" name="Text 17"/>
          <p:cNvSpPr/>
          <p:nvPr/>
        </p:nvSpPr>
        <p:spPr>
          <a:xfrm>
            <a:off x="5669280" y="3383280"/>
            <a:ext cx="1828800" cy="731520"/>
          </a:xfrm>
          <a:prstGeom prst="rect">
            <a:avLst/>
          </a:prstGeom>
          <a:noFill/>
          <a:ln/>
        </p:spPr>
        <p:txBody>
          <a:bodyPr wrap="square" rtlCol="0" anchor="ctr"/>
          <a:lstStyle/>
          <a:p>
            <a:pPr marL="0" indent="0" algn="ctr">
              <a:buNone/>
            </a:pPr>
            <a:r>
              <a:rPr lang="en-US" sz="4200" b="1" dirty="0">
                <a:solidFill>
                  <a:srgbClr val="FF6600"/>
                </a:solidFill>
                <a:latin typeface="Times New Roman" pitchFamily="34" charset="0"/>
                <a:ea typeface="Times New Roman" pitchFamily="34" charset="-122"/>
                <a:cs typeface="Times New Roman" pitchFamily="34" charset="-120"/>
              </a:rPr>
              <a:t>68%</a:t>
            </a:r>
            <a:endParaRPr lang="en-US" sz="4200" dirty="0"/>
          </a:p>
        </p:txBody>
      </p:sp>
      <p:sp>
        <p:nvSpPr>
          <p:cNvPr id="20" name="Text 18"/>
          <p:cNvSpPr/>
          <p:nvPr/>
        </p:nvSpPr>
        <p:spPr>
          <a:xfrm>
            <a:off x="5669280" y="4023360"/>
            <a:ext cx="1828800" cy="365760"/>
          </a:xfrm>
          <a:prstGeom prst="rect">
            <a:avLst/>
          </a:prstGeom>
          <a:noFill/>
          <a:ln/>
        </p:spPr>
        <p:txBody>
          <a:bodyPr wrap="square" rtlCol="0" anchor="ct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acceptance rate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808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3000" b="1" dirty="0">
                <a:solidFill>
                  <a:srgbClr val="FFFFFF"/>
                </a:solidFill>
                <a:latin typeface="Times New Roman" pitchFamily="34" charset="0"/>
                <a:ea typeface="Times New Roman" pitchFamily="34" charset="-122"/>
                <a:cs typeface="Times New Roman" pitchFamily="34" charset="-120"/>
              </a:rPr>
              <a:t>5 Disciplines, 17 Badge Types, 1 Framework</a:t>
            </a:r>
            <a:endParaRPr lang="en-US" sz="3000" dirty="0"/>
          </a:p>
        </p:txBody>
      </p:sp>
      <p:sp>
        <p:nvSpPr>
          <p:cNvPr id="4" name="Text 2"/>
          <p:cNvSpPr/>
          <p:nvPr/>
        </p:nvSpPr>
        <p:spPr>
          <a:xfrm>
            <a:off x="457200" y="1371600"/>
            <a:ext cx="2286000" cy="457200"/>
          </a:xfrm>
          <a:prstGeom prst="rect">
            <a:avLst/>
          </a:prstGeom>
          <a:noFill/>
          <a:ln/>
        </p:spPr>
        <p:txBody>
          <a:bodyPr wrap="square" rtlCol="0" anchor="ctr"/>
          <a:lstStyle/>
          <a:p>
            <a:pPr marL="0" indent="0">
              <a:buNone/>
            </a:pPr>
            <a:r>
              <a:rPr lang="en-US" sz="1400" dirty="0">
                <a:solidFill>
                  <a:srgbClr val="000000"/>
                </a:solidFill>
                <a:latin typeface="Times New Roman" pitchFamily="34" charset="0"/>
                <a:ea typeface="Times New Roman" pitchFamily="34" charset="-122"/>
                <a:cs typeface="Times New Roman" pitchFamily="34" charset="-120"/>
              </a:rPr>
              <a:t>Industrial &amp; Safety</a:t>
            </a:r>
            <a:endParaRPr lang="en-US" sz="1400" dirty="0"/>
          </a:p>
        </p:txBody>
      </p:sp>
      <p:sp>
        <p:nvSpPr>
          <p:cNvPr id="5" name="Shape 3"/>
          <p:cNvSpPr/>
          <p:nvPr/>
        </p:nvSpPr>
        <p:spPr>
          <a:xfrm>
            <a:off x="2926080" y="1463040"/>
            <a:ext cx="4572000" cy="320040"/>
          </a:xfrm>
          <a:prstGeom prst="rect">
            <a:avLst/>
          </a:prstGeom>
          <a:solidFill>
            <a:srgbClr val="FF6600"/>
          </a:solidFill>
          <a:ln/>
        </p:spPr>
        <p:txBody>
          <a:bodyPr/>
          <a:lstStyle/>
          <a:p>
            <a:endParaRPr lang="en-US"/>
          </a:p>
        </p:txBody>
      </p:sp>
      <p:sp>
        <p:nvSpPr>
          <p:cNvPr id="6" name="Text 4"/>
          <p:cNvSpPr/>
          <p:nvPr/>
        </p:nvSpPr>
        <p:spPr>
          <a:xfrm>
            <a:off x="7680960" y="1371600"/>
            <a:ext cx="2286000" cy="457200"/>
          </a:xfrm>
          <a:prstGeom prst="rect">
            <a:avLst/>
          </a:prstGeom>
          <a:noFill/>
          <a:ln/>
        </p:spPr>
        <p:txBody>
          <a:bodyPr wrap="square" rtlCol="0" anchor="ctr"/>
          <a:lstStyle/>
          <a:p>
            <a:pPr marL="0" indent="0">
              <a:buNone/>
            </a:pPr>
            <a:r>
              <a:rPr lang="en-US" sz="1300" dirty="0">
                <a:solidFill>
                  <a:srgbClr val="333333"/>
                </a:solidFill>
                <a:latin typeface="Times New Roman" pitchFamily="34" charset="0"/>
                <a:ea typeface="Times New Roman" pitchFamily="34" charset="-122"/>
                <a:cs typeface="Times New Roman" pitchFamily="34" charset="-120"/>
              </a:rPr>
              <a:t>430 badges (42%)</a:t>
            </a:r>
            <a:endParaRPr lang="en-US" sz="1300" dirty="0"/>
          </a:p>
        </p:txBody>
      </p:sp>
      <p:sp>
        <p:nvSpPr>
          <p:cNvPr id="7" name="Text 5"/>
          <p:cNvSpPr/>
          <p:nvPr/>
        </p:nvSpPr>
        <p:spPr>
          <a:xfrm>
            <a:off x="457200" y="2103120"/>
            <a:ext cx="2286000" cy="457200"/>
          </a:xfrm>
          <a:prstGeom prst="rect">
            <a:avLst/>
          </a:prstGeom>
          <a:noFill/>
          <a:ln/>
        </p:spPr>
        <p:txBody>
          <a:bodyPr wrap="square" rtlCol="0" anchor="ctr"/>
          <a:lstStyle/>
          <a:p>
            <a:pPr marL="0" indent="0">
              <a:buNone/>
            </a:pPr>
            <a:r>
              <a:rPr lang="en-US" sz="1400" dirty="0">
                <a:solidFill>
                  <a:srgbClr val="000000"/>
                </a:solidFill>
                <a:latin typeface="Times New Roman" pitchFamily="34" charset="0"/>
                <a:ea typeface="Times New Roman" pitchFamily="34" charset="-122"/>
                <a:cs typeface="Times New Roman" pitchFamily="34" charset="-120"/>
              </a:rPr>
              <a:t>Technology</a:t>
            </a:r>
            <a:endParaRPr lang="en-US" sz="1400" dirty="0"/>
          </a:p>
        </p:txBody>
      </p:sp>
      <p:sp>
        <p:nvSpPr>
          <p:cNvPr id="8" name="Shape 6"/>
          <p:cNvSpPr/>
          <p:nvPr/>
        </p:nvSpPr>
        <p:spPr>
          <a:xfrm>
            <a:off x="2926080" y="2194560"/>
            <a:ext cx="2456121" cy="320040"/>
          </a:xfrm>
          <a:prstGeom prst="rect">
            <a:avLst/>
          </a:prstGeom>
          <a:solidFill>
            <a:srgbClr val="008080"/>
          </a:solidFill>
          <a:ln/>
        </p:spPr>
        <p:txBody>
          <a:bodyPr/>
          <a:lstStyle/>
          <a:p>
            <a:endParaRPr lang="en-US"/>
          </a:p>
        </p:txBody>
      </p:sp>
      <p:sp>
        <p:nvSpPr>
          <p:cNvPr id="9" name="Text 7"/>
          <p:cNvSpPr/>
          <p:nvPr/>
        </p:nvSpPr>
        <p:spPr>
          <a:xfrm>
            <a:off x="5565081" y="2103120"/>
            <a:ext cx="2286000" cy="457200"/>
          </a:xfrm>
          <a:prstGeom prst="rect">
            <a:avLst/>
          </a:prstGeom>
          <a:noFill/>
          <a:ln/>
        </p:spPr>
        <p:txBody>
          <a:bodyPr wrap="square" rtlCol="0" anchor="ctr"/>
          <a:lstStyle/>
          <a:p>
            <a:pPr marL="0" indent="0">
              <a:buNone/>
            </a:pPr>
            <a:r>
              <a:rPr lang="en-US" sz="1300" dirty="0">
                <a:solidFill>
                  <a:srgbClr val="333333"/>
                </a:solidFill>
                <a:latin typeface="Times New Roman" pitchFamily="34" charset="0"/>
                <a:ea typeface="Times New Roman" pitchFamily="34" charset="-122"/>
                <a:cs typeface="Times New Roman" pitchFamily="34" charset="-120"/>
              </a:rPr>
              <a:t>231 badges (23%)</a:t>
            </a:r>
            <a:endParaRPr lang="en-US" sz="1300" dirty="0"/>
          </a:p>
        </p:txBody>
      </p:sp>
      <p:sp>
        <p:nvSpPr>
          <p:cNvPr id="10" name="Text 8"/>
          <p:cNvSpPr/>
          <p:nvPr/>
        </p:nvSpPr>
        <p:spPr>
          <a:xfrm>
            <a:off x="457200" y="2834640"/>
            <a:ext cx="2286000" cy="457200"/>
          </a:xfrm>
          <a:prstGeom prst="rect">
            <a:avLst/>
          </a:prstGeom>
          <a:noFill/>
          <a:ln/>
        </p:spPr>
        <p:txBody>
          <a:bodyPr wrap="square" rtlCol="0" anchor="ctr"/>
          <a:lstStyle/>
          <a:p>
            <a:pPr marL="0" indent="0">
              <a:buNone/>
            </a:pPr>
            <a:r>
              <a:rPr lang="en-US" sz="1400" dirty="0">
                <a:solidFill>
                  <a:srgbClr val="000000"/>
                </a:solidFill>
                <a:latin typeface="Times New Roman" pitchFamily="34" charset="0"/>
                <a:ea typeface="Times New Roman" pitchFamily="34" charset="-122"/>
                <a:cs typeface="Times New Roman" pitchFamily="34" charset="-120"/>
              </a:rPr>
              <a:t>Healthcare</a:t>
            </a:r>
            <a:endParaRPr lang="en-US" sz="1400" dirty="0"/>
          </a:p>
        </p:txBody>
      </p:sp>
      <p:sp>
        <p:nvSpPr>
          <p:cNvPr id="11" name="Shape 9"/>
          <p:cNvSpPr/>
          <p:nvPr/>
        </p:nvSpPr>
        <p:spPr>
          <a:xfrm>
            <a:off x="2926080" y="2926080"/>
            <a:ext cx="2073349" cy="320040"/>
          </a:xfrm>
          <a:prstGeom prst="rect">
            <a:avLst/>
          </a:prstGeom>
          <a:solidFill>
            <a:srgbClr val="FF8533"/>
          </a:solidFill>
          <a:ln/>
        </p:spPr>
        <p:txBody>
          <a:bodyPr/>
          <a:lstStyle/>
          <a:p>
            <a:endParaRPr lang="en-US"/>
          </a:p>
        </p:txBody>
      </p:sp>
      <p:sp>
        <p:nvSpPr>
          <p:cNvPr id="12" name="Text 10"/>
          <p:cNvSpPr/>
          <p:nvPr/>
        </p:nvSpPr>
        <p:spPr>
          <a:xfrm>
            <a:off x="5182309" y="2834640"/>
            <a:ext cx="2286000" cy="457200"/>
          </a:xfrm>
          <a:prstGeom prst="rect">
            <a:avLst/>
          </a:prstGeom>
          <a:noFill/>
          <a:ln/>
        </p:spPr>
        <p:txBody>
          <a:bodyPr wrap="square" rtlCol="0" anchor="ctr"/>
          <a:lstStyle/>
          <a:p>
            <a:pPr marL="0" indent="0">
              <a:buNone/>
            </a:pPr>
            <a:r>
              <a:rPr lang="en-US" sz="1300" dirty="0">
                <a:solidFill>
                  <a:srgbClr val="333333"/>
                </a:solidFill>
                <a:latin typeface="Times New Roman" pitchFamily="34" charset="0"/>
                <a:ea typeface="Times New Roman" pitchFamily="34" charset="-122"/>
                <a:cs typeface="Times New Roman" pitchFamily="34" charset="-120"/>
              </a:rPr>
              <a:t>195 badges (19%)</a:t>
            </a:r>
            <a:endParaRPr lang="en-US" sz="1300" dirty="0"/>
          </a:p>
        </p:txBody>
      </p:sp>
      <p:sp>
        <p:nvSpPr>
          <p:cNvPr id="13" name="Text 11"/>
          <p:cNvSpPr/>
          <p:nvPr/>
        </p:nvSpPr>
        <p:spPr>
          <a:xfrm>
            <a:off x="457200" y="3566160"/>
            <a:ext cx="2286000" cy="457200"/>
          </a:xfrm>
          <a:prstGeom prst="rect">
            <a:avLst/>
          </a:prstGeom>
          <a:noFill/>
          <a:ln/>
        </p:spPr>
        <p:txBody>
          <a:bodyPr wrap="square" rtlCol="0" anchor="ctr"/>
          <a:lstStyle/>
          <a:p>
            <a:pPr marL="0" indent="0">
              <a:buNone/>
            </a:pPr>
            <a:r>
              <a:rPr lang="en-US" sz="1400" dirty="0">
                <a:solidFill>
                  <a:srgbClr val="000000"/>
                </a:solidFill>
                <a:latin typeface="Times New Roman" pitchFamily="34" charset="0"/>
                <a:ea typeface="Times New Roman" pitchFamily="34" charset="-122"/>
                <a:cs typeface="Times New Roman" pitchFamily="34" charset="-120"/>
              </a:rPr>
              <a:t>Business &amp; Quality</a:t>
            </a:r>
            <a:endParaRPr lang="en-US" sz="1400" dirty="0"/>
          </a:p>
        </p:txBody>
      </p:sp>
      <p:sp>
        <p:nvSpPr>
          <p:cNvPr id="14" name="Shape 12"/>
          <p:cNvSpPr/>
          <p:nvPr/>
        </p:nvSpPr>
        <p:spPr>
          <a:xfrm>
            <a:off x="2926080" y="3657600"/>
            <a:ext cx="1562986" cy="320040"/>
          </a:xfrm>
          <a:prstGeom prst="rect">
            <a:avLst/>
          </a:prstGeom>
          <a:solidFill>
            <a:srgbClr val="00A3A3"/>
          </a:solidFill>
          <a:ln/>
        </p:spPr>
        <p:txBody>
          <a:bodyPr/>
          <a:lstStyle/>
          <a:p>
            <a:endParaRPr lang="en-US"/>
          </a:p>
        </p:txBody>
      </p:sp>
      <p:sp>
        <p:nvSpPr>
          <p:cNvPr id="15" name="Text 13"/>
          <p:cNvSpPr/>
          <p:nvPr/>
        </p:nvSpPr>
        <p:spPr>
          <a:xfrm>
            <a:off x="4671946" y="3566160"/>
            <a:ext cx="2286000" cy="457200"/>
          </a:xfrm>
          <a:prstGeom prst="rect">
            <a:avLst/>
          </a:prstGeom>
          <a:noFill/>
          <a:ln/>
        </p:spPr>
        <p:txBody>
          <a:bodyPr wrap="square" rtlCol="0" anchor="ctr"/>
          <a:lstStyle/>
          <a:p>
            <a:pPr marL="0" indent="0">
              <a:buNone/>
            </a:pPr>
            <a:r>
              <a:rPr lang="en-US" sz="1300" dirty="0">
                <a:solidFill>
                  <a:srgbClr val="333333"/>
                </a:solidFill>
                <a:latin typeface="Times New Roman" pitchFamily="34" charset="0"/>
                <a:ea typeface="Times New Roman" pitchFamily="34" charset="-122"/>
                <a:cs typeface="Times New Roman" pitchFamily="34" charset="-120"/>
              </a:rPr>
              <a:t>147 badges (14%)</a:t>
            </a:r>
            <a:endParaRPr lang="en-US" sz="1300" dirty="0"/>
          </a:p>
        </p:txBody>
      </p:sp>
      <p:sp>
        <p:nvSpPr>
          <p:cNvPr id="16" name="Text 14"/>
          <p:cNvSpPr/>
          <p:nvPr/>
        </p:nvSpPr>
        <p:spPr>
          <a:xfrm>
            <a:off x="457200" y="4297680"/>
            <a:ext cx="2286000" cy="457200"/>
          </a:xfrm>
          <a:prstGeom prst="rect">
            <a:avLst/>
          </a:prstGeom>
          <a:noFill/>
          <a:ln/>
        </p:spPr>
        <p:txBody>
          <a:bodyPr wrap="square" rtlCol="0" anchor="ctr"/>
          <a:lstStyle/>
          <a:p>
            <a:pPr marL="0" indent="0">
              <a:buNone/>
            </a:pPr>
            <a:r>
              <a:rPr lang="en-US" sz="1400" dirty="0">
                <a:solidFill>
                  <a:srgbClr val="000000"/>
                </a:solidFill>
                <a:latin typeface="Times New Roman" pitchFamily="34" charset="0"/>
                <a:ea typeface="Times New Roman" pitchFamily="34" charset="-122"/>
                <a:cs typeface="Times New Roman" pitchFamily="34" charset="-120"/>
              </a:rPr>
              <a:t>Faculty Development</a:t>
            </a:r>
            <a:endParaRPr lang="en-US" sz="1400" dirty="0"/>
          </a:p>
        </p:txBody>
      </p:sp>
      <p:sp>
        <p:nvSpPr>
          <p:cNvPr id="17" name="Shape 15"/>
          <p:cNvSpPr/>
          <p:nvPr/>
        </p:nvSpPr>
        <p:spPr>
          <a:xfrm>
            <a:off x="2926080" y="4389120"/>
            <a:ext cx="340242" cy="320040"/>
          </a:xfrm>
          <a:prstGeom prst="rect">
            <a:avLst/>
          </a:prstGeom>
          <a:solidFill>
            <a:srgbClr val="CC5200"/>
          </a:solidFill>
          <a:ln/>
        </p:spPr>
        <p:txBody>
          <a:bodyPr/>
          <a:lstStyle/>
          <a:p>
            <a:endParaRPr lang="en-US"/>
          </a:p>
        </p:txBody>
      </p:sp>
      <p:sp>
        <p:nvSpPr>
          <p:cNvPr id="18" name="Text 16"/>
          <p:cNvSpPr/>
          <p:nvPr/>
        </p:nvSpPr>
        <p:spPr>
          <a:xfrm>
            <a:off x="3449202" y="4297680"/>
            <a:ext cx="2286000" cy="457200"/>
          </a:xfrm>
          <a:prstGeom prst="rect">
            <a:avLst/>
          </a:prstGeom>
          <a:noFill/>
          <a:ln/>
        </p:spPr>
        <p:txBody>
          <a:bodyPr wrap="square" rtlCol="0" anchor="ctr"/>
          <a:lstStyle/>
          <a:p>
            <a:pPr marL="0" indent="0">
              <a:buNone/>
            </a:pPr>
            <a:r>
              <a:rPr lang="en-US" sz="1300" dirty="0">
                <a:solidFill>
                  <a:srgbClr val="333333"/>
                </a:solidFill>
                <a:latin typeface="Times New Roman" pitchFamily="34" charset="0"/>
                <a:ea typeface="Times New Roman" pitchFamily="34" charset="-122"/>
                <a:cs typeface="Times New Roman" pitchFamily="34" charset="-120"/>
              </a:rPr>
              <a:t>32 badges (3%)</a:t>
            </a:r>
            <a:endParaRPr lang="en-US" sz="1300" dirty="0"/>
          </a:p>
        </p:txBody>
      </p:sp>
      <p:sp>
        <p:nvSpPr>
          <p:cNvPr id="19" name="Shape 17"/>
          <p:cNvSpPr/>
          <p:nvPr/>
        </p:nvSpPr>
        <p:spPr>
          <a:xfrm>
            <a:off x="457200" y="4756535"/>
            <a:ext cx="8229600" cy="274320"/>
          </a:xfrm>
          <a:prstGeom prst="rect">
            <a:avLst/>
          </a:prstGeom>
          <a:solidFill>
            <a:srgbClr val="FFF3E0"/>
          </a:solidFill>
          <a:ln/>
        </p:spPr>
        <p:txBody>
          <a:bodyPr/>
          <a:lstStyle/>
          <a:p>
            <a:pPr algn="ctr"/>
            <a:r>
              <a:rPr lang="en-US" sz="1200" i="1" dirty="0">
                <a:solidFill>
                  <a:srgbClr val="FF6600"/>
                </a:solidFill>
                <a:latin typeface="Times New Roman" pitchFamily="34" charset="0"/>
                <a:ea typeface="Times New Roman" pitchFamily="34" charset="-122"/>
                <a:cs typeface="Times New Roman" pitchFamily="34" charset="-120"/>
              </a:rPr>
              <a:t>Same methodology spans all disciplines — scalable and adaptable</a:t>
            </a:r>
            <a:endParaRPr lang="en-US" sz="1200" dirty="0"/>
          </a:p>
        </p:txBody>
      </p:sp>
      <p:sp>
        <p:nvSpPr>
          <p:cNvPr id="20" name="Text 18"/>
          <p:cNvSpPr/>
          <p:nvPr/>
        </p:nvSpPr>
        <p:spPr>
          <a:xfrm>
            <a:off x="457200" y="4803912"/>
            <a:ext cx="8229600" cy="179567"/>
          </a:xfrm>
          <a:prstGeom prst="rect">
            <a:avLst/>
          </a:prstGeom>
          <a:noFill/>
          <a:ln/>
        </p:spPr>
        <p:txBody>
          <a:bodyPr wrap="square" rtlCol="0" anchor="ctr"/>
          <a:lstStyle/>
          <a:p>
            <a:pPr marL="0" indent="0" algn="ctr">
              <a:buNone/>
            </a:pPr>
            <a:endParaRPr lang="en-US" sz="1400" i="1" dirty="0">
              <a:solidFill>
                <a:srgbClr val="FF6600"/>
              </a:solidFill>
              <a:latin typeface="Times New Roman" pitchFamily="34" charset="0"/>
              <a:ea typeface="Times New Roman" pitchFamily="34" charset="-122"/>
              <a:cs typeface="Times New Roman"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F660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Workforce-Ready Safety Certifications</a:t>
            </a:r>
            <a:endParaRPr lang="en-US" sz="3200" dirty="0"/>
          </a:p>
        </p:txBody>
      </p:sp>
      <p:sp>
        <p:nvSpPr>
          <p:cNvPr id="4" name="Shape 2"/>
          <p:cNvSpPr/>
          <p:nvPr/>
        </p:nvSpPr>
        <p:spPr>
          <a:xfrm>
            <a:off x="640080" y="1280160"/>
            <a:ext cx="640080" cy="640080"/>
          </a:xfrm>
          <a:prstGeom prst="ellipse">
            <a:avLst/>
          </a:prstGeom>
          <a:solidFill>
            <a:srgbClr val="FF6600"/>
          </a:solidFill>
          <a:ln/>
        </p:spPr>
        <p:txBody>
          <a:bodyPr/>
          <a:lstStyle/>
          <a:p>
            <a:endParaRPr lang="en-US"/>
          </a:p>
        </p:txBody>
      </p:sp>
      <p:sp>
        <p:nvSpPr>
          <p:cNvPr id="5" name="Text 3"/>
          <p:cNvSpPr/>
          <p:nvPr/>
        </p:nvSpPr>
        <p:spPr>
          <a:xfrm>
            <a:off x="640080" y="1280160"/>
            <a:ext cx="640080" cy="640080"/>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I&amp;S</a:t>
            </a:r>
            <a:endParaRPr lang="en-US" sz="1200" dirty="0"/>
          </a:p>
        </p:txBody>
      </p:sp>
      <p:sp>
        <p:nvSpPr>
          <p:cNvPr id="6" name="Text 4"/>
          <p:cNvSpPr/>
          <p:nvPr/>
        </p:nvSpPr>
        <p:spPr>
          <a:xfrm>
            <a:off x="1463040" y="1371600"/>
            <a:ext cx="2743200" cy="457200"/>
          </a:xfrm>
          <a:prstGeom prst="rect">
            <a:avLst/>
          </a:prstGeom>
          <a:noFill/>
          <a:ln/>
        </p:spPr>
        <p:txBody>
          <a:bodyPr wrap="square" rtlCol="0" anchor="ctr"/>
          <a:lstStyle/>
          <a:p>
            <a:pPr marL="0" indent="0">
              <a:buNone/>
            </a:pPr>
            <a:r>
              <a:rPr lang="en-US" sz="2000" b="1" dirty="0">
                <a:solidFill>
                  <a:srgbClr val="FF6600"/>
                </a:solidFill>
                <a:latin typeface="Times New Roman" pitchFamily="34" charset="0"/>
                <a:ea typeface="Times New Roman" pitchFamily="34" charset="-122"/>
                <a:cs typeface="Times New Roman" pitchFamily="34" charset="-120"/>
              </a:rPr>
              <a:t>Industrial &amp; Safety</a:t>
            </a:r>
            <a:endParaRPr lang="en-US" sz="2000" dirty="0"/>
          </a:p>
        </p:txBody>
      </p:sp>
      <p:sp>
        <p:nvSpPr>
          <p:cNvPr id="7" name="Shape 5"/>
          <p:cNvSpPr/>
          <p:nvPr/>
        </p:nvSpPr>
        <p:spPr>
          <a:xfrm>
            <a:off x="640080" y="2103120"/>
            <a:ext cx="5029200" cy="502920"/>
          </a:xfrm>
          <a:prstGeom prst="rect">
            <a:avLst/>
          </a:prstGeom>
          <a:solidFill>
            <a:srgbClr val="F5F5F5"/>
          </a:solidFill>
          <a:ln/>
        </p:spPr>
        <p:txBody>
          <a:bodyPr/>
          <a:lstStyle/>
          <a:p>
            <a:endParaRPr lang="en-US"/>
          </a:p>
        </p:txBody>
      </p:sp>
      <p:sp>
        <p:nvSpPr>
          <p:cNvPr id="8" name="Text 6"/>
          <p:cNvSpPr/>
          <p:nvPr/>
        </p:nvSpPr>
        <p:spPr>
          <a:xfrm>
            <a:off x="822960" y="2103120"/>
            <a:ext cx="3657600" cy="502920"/>
          </a:xfrm>
          <a:prstGeom prst="rect">
            <a:avLst/>
          </a:prstGeom>
          <a:noFill/>
          <a:ln/>
        </p:spPr>
        <p:txBody>
          <a:bodyPr wrap="square" rtlCol="0" anchor="ctr"/>
          <a:lstStyle/>
          <a:p>
            <a:pPr marL="0" indent="0">
              <a:buNone/>
            </a:pPr>
            <a:r>
              <a:rPr lang="en-US" sz="1500" dirty="0">
                <a:solidFill>
                  <a:srgbClr val="000000"/>
                </a:solidFill>
                <a:latin typeface="Times New Roman" pitchFamily="34" charset="0"/>
                <a:ea typeface="Times New Roman" pitchFamily="34" charset="-122"/>
                <a:cs typeface="Times New Roman" pitchFamily="34" charset="-120"/>
              </a:rPr>
              <a:t>Verified Forklift Operator</a:t>
            </a:r>
            <a:endParaRPr lang="en-US" sz="1500" dirty="0"/>
          </a:p>
        </p:txBody>
      </p:sp>
      <p:sp>
        <p:nvSpPr>
          <p:cNvPr id="9" name="Text 7"/>
          <p:cNvSpPr/>
          <p:nvPr/>
        </p:nvSpPr>
        <p:spPr>
          <a:xfrm>
            <a:off x="4572000" y="2103120"/>
            <a:ext cx="914400" cy="502920"/>
          </a:xfrm>
          <a:prstGeom prst="rect">
            <a:avLst/>
          </a:prstGeom>
          <a:noFill/>
          <a:ln/>
        </p:spPr>
        <p:txBody>
          <a:bodyPr wrap="square" rtlCol="0" anchor="ctr"/>
          <a:lstStyle/>
          <a:p>
            <a:pPr marL="0" indent="0" algn="r">
              <a:buNone/>
            </a:pPr>
            <a:r>
              <a:rPr lang="en-US" sz="1800" b="1" dirty="0">
                <a:solidFill>
                  <a:srgbClr val="FF6600"/>
                </a:solidFill>
                <a:latin typeface="Times New Roman" pitchFamily="34" charset="0"/>
                <a:ea typeface="Times New Roman" pitchFamily="34" charset="-122"/>
                <a:cs typeface="Times New Roman" pitchFamily="34" charset="-120"/>
              </a:rPr>
              <a:t>206</a:t>
            </a:r>
            <a:endParaRPr lang="en-US" sz="1800" dirty="0"/>
          </a:p>
        </p:txBody>
      </p:sp>
      <p:sp>
        <p:nvSpPr>
          <p:cNvPr id="10" name="Shape 8"/>
          <p:cNvSpPr/>
          <p:nvPr/>
        </p:nvSpPr>
        <p:spPr>
          <a:xfrm>
            <a:off x="640080" y="2697480"/>
            <a:ext cx="5029200" cy="502920"/>
          </a:xfrm>
          <a:prstGeom prst="rect">
            <a:avLst/>
          </a:prstGeom>
          <a:solidFill>
            <a:srgbClr val="F5F5F5"/>
          </a:solidFill>
          <a:ln/>
        </p:spPr>
        <p:txBody>
          <a:bodyPr/>
          <a:lstStyle/>
          <a:p>
            <a:endParaRPr lang="en-US"/>
          </a:p>
        </p:txBody>
      </p:sp>
      <p:sp>
        <p:nvSpPr>
          <p:cNvPr id="11" name="Text 9"/>
          <p:cNvSpPr/>
          <p:nvPr/>
        </p:nvSpPr>
        <p:spPr>
          <a:xfrm>
            <a:off x="822960" y="2697480"/>
            <a:ext cx="3657600" cy="502920"/>
          </a:xfrm>
          <a:prstGeom prst="rect">
            <a:avLst/>
          </a:prstGeom>
          <a:noFill/>
          <a:ln/>
        </p:spPr>
        <p:txBody>
          <a:bodyPr wrap="square" rtlCol="0" anchor="ctr"/>
          <a:lstStyle/>
          <a:p>
            <a:pPr marL="0" indent="0">
              <a:buNone/>
            </a:pPr>
            <a:r>
              <a:rPr lang="en-US" sz="1500" dirty="0">
                <a:solidFill>
                  <a:srgbClr val="000000"/>
                </a:solidFill>
                <a:latin typeface="Times New Roman" pitchFamily="34" charset="0"/>
                <a:ea typeface="Times New Roman" pitchFamily="34" charset="-122"/>
                <a:cs typeface="Times New Roman" pitchFamily="34" charset="-120"/>
              </a:rPr>
              <a:t>OSHA 30-Hour General Industry</a:t>
            </a:r>
            <a:endParaRPr lang="en-US" sz="1500" dirty="0"/>
          </a:p>
        </p:txBody>
      </p:sp>
      <p:sp>
        <p:nvSpPr>
          <p:cNvPr id="12" name="Text 10"/>
          <p:cNvSpPr/>
          <p:nvPr/>
        </p:nvSpPr>
        <p:spPr>
          <a:xfrm>
            <a:off x="4572000" y="2697480"/>
            <a:ext cx="914400" cy="502920"/>
          </a:xfrm>
          <a:prstGeom prst="rect">
            <a:avLst/>
          </a:prstGeom>
          <a:noFill/>
          <a:ln/>
        </p:spPr>
        <p:txBody>
          <a:bodyPr wrap="square" rtlCol="0" anchor="ctr"/>
          <a:lstStyle/>
          <a:p>
            <a:pPr marL="0" indent="0" algn="r">
              <a:buNone/>
            </a:pPr>
            <a:r>
              <a:rPr lang="en-US" sz="1800" b="1" dirty="0">
                <a:solidFill>
                  <a:srgbClr val="FF6600"/>
                </a:solidFill>
                <a:latin typeface="Times New Roman" pitchFamily="34" charset="0"/>
                <a:ea typeface="Times New Roman" pitchFamily="34" charset="-122"/>
                <a:cs typeface="Times New Roman" pitchFamily="34" charset="-120"/>
              </a:rPr>
              <a:t>152</a:t>
            </a:r>
            <a:endParaRPr lang="en-US" sz="1800" dirty="0"/>
          </a:p>
        </p:txBody>
      </p:sp>
      <p:sp>
        <p:nvSpPr>
          <p:cNvPr id="13" name="Shape 11"/>
          <p:cNvSpPr/>
          <p:nvPr/>
        </p:nvSpPr>
        <p:spPr>
          <a:xfrm>
            <a:off x="640080" y="3291840"/>
            <a:ext cx="5029200" cy="502920"/>
          </a:xfrm>
          <a:prstGeom prst="rect">
            <a:avLst/>
          </a:prstGeom>
          <a:solidFill>
            <a:srgbClr val="F5F5F5"/>
          </a:solidFill>
          <a:ln/>
        </p:spPr>
        <p:txBody>
          <a:bodyPr/>
          <a:lstStyle/>
          <a:p>
            <a:endParaRPr lang="en-US"/>
          </a:p>
        </p:txBody>
      </p:sp>
      <p:sp>
        <p:nvSpPr>
          <p:cNvPr id="14" name="Text 12"/>
          <p:cNvSpPr/>
          <p:nvPr/>
        </p:nvSpPr>
        <p:spPr>
          <a:xfrm>
            <a:off x="822960" y="3291840"/>
            <a:ext cx="3657600" cy="502920"/>
          </a:xfrm>
          <a:prstGeom prst="rect">
            <a:avLst/>
          </a:prstGeom>
          <a:noFill/>
          <a:ln/>
        </p:spPr>
        <p:txBody>
          <a:bodyPr wrap="square" rtlCol="0" anchor="ctr"/>
          <a:lstStyle/>
          <a:p>
            <a:pPr marL="0" indent="0">
              <a:buNone/>
            </a:pPr>
            <a:r>
              <a:rPr lang="en-US" sz="1500" dirty="0">
                <a:solidFill>
                  <a:srgbClr val="000000"/>
                </a:solidFill>
                <a:latin typeface="Times New Roman" pitchFamily="34" charset="0"/>
                <a:ea typeface="Times New Roman" pitchFamily="34" charset="-122"/>
                <a:cs typeface="Times New Roman" pitchFamily="34" charset="-120"/>
              </a:rPr>
              <a:t>OSHA 10-Hour Construction</a:t>
            </a:r>
            <a:endParaRPr lang="en-US" sz="1500" dirty="0"/>
          </a:p>
        </p:txBody>
      </p:sp>
      <p:sp>
        <p:nvSpPr>
          <p:cNvPr id="15" name="Text 13"/>
          <p:cNvSpPr/>
          <p:nvPr/>
        </p:nvSpPr>
        <p:spPr>
          <a:xfrm>
            <a:off x="4572000" y="3291840"/>
            <a:ext cx="914400" cy="502920"/>
          </a:xfrm>
          <a:prstGeom prst="rect">
            <a:avLst/>
          </a:prstGeom>
          <a:noFill/>
          <a:ln/>
        </p:spPr>
        <p:txBody>
          <a:bodyPr wrap="square" rtlCol="0" anchor="ctr"/>
          <a:lstStyle/>
          <a:p>
            <a:pPr marL="0" indent="0" algn="r">
              <a:buNone/>
            </a:pPr>
            <a:r>
              <a:rPr lang="en-US" sz="1800" b="1" dirty="0">
                <a:solidFill>
                  <a:srgbClr val="FF6600"/>
                </a:solidFill>
                <a:latin typeface="Times New Roman" pitchFamily="34" charset="0"/>
                <a:ea typeface="Times New Roman" pitchFamily="34" charset="-122"/>
                <a:cs typeface="Times New Roman" pitchFamily="34" charset="-120"/>
              </a:rPr>
              <a:t>66</a:t>
            </a:r>
            <a:endParaRPr lang="en-US" sz="1800" dirty="0"/>
          </a:p>
        </p:txBody>
      </p:sp>
      <p:sp>
        <p:nvSpPr>
          <p:cNvPr id="16" name="Shape 14"/>
          <p:cNvSpPr/>
          <p:nvPr/>
        </p:nvSpPr>
        <p:spPr>
          <a:xfrm>
            <a:off x="640080" y="3886200"/>
            <a:ext cx="5029200" cy="502920"/>
          </a:xfrm>
          <a:prstGeom prst="rect">
            <a:avLst/>
          </a:prstGeom>
          <a:solidFill>
            <a:srgbClr val="F5F5F5"/>
          </a:solidFill>
          <a:ln/>
        </p:spPr>
        <p:txBody>
          <a:bodyPr/>
          <a:lstStyle/>
          <a:p>
            <a:endParaRPr lang="en-US"/>
          </a:p>
        </p:txBody>
      </p:sp>
      <p:sp>
        <p:nvSpPr>
          <p:cNvPr id="17" name="Text 15"/>
          <p:cNvSpPr/>
          <p:nvPr/>
        </p:nvSpPr>
        <p:spPr>
          <a:xfrm>
            <a:off x="822960" y="3886200"/>
            <a:ext cx="3657600" cy="502920"/>
          </a:xfrm>
          <a:prstGeom prst="rect">
            <a:avLst/>
          </a:prstGeom>
          <a:noFill/>
          <a:ln/>
        </p:spPr>
        <p:txBody>
          <a:bodyPr wrap="square" rtlCol="0" anchor="ctr"/>
          <a:lstStyle/>
          <a:p>
            <a:pPr marL="0" indent="0">
              <a:buNone/>
            </a:pPr>
            <a:r>
              <a:rPr lang="en-US" sz="1500" dirty="0">
                <a:solidFill>
                  <a:srgbClr val="000000"/>
                </a:solidFill>
                <a:latin typeface="Times New Roman" pitchFamily="34" charset="0"/>
                <a:ea typeface="Times New Roman" pitchFamily="34" charset="-122"/>
                <a:cs typeface="Times New Roman" pitchFamily="34" charset="-120"/>
              </a:rPr>
              <a:t>OSHA 30-Hour Construction</a:t>
            </a:r>
            <a:endParaRPr lang="en-US" sz="1500" dirty="0"/>
          </a:p>
        </p:txBody>
      </p:sp>
      <p:sp>
        <p:nvSpPr>
          <p:cNvPr id="18" name="Text 16"/>
          <p:cNvSpPr/>
          <p:nvPr/>
        </p:nvSpPr>
        <p:spPr>
          <a:xfrm>
            <a:off x="4572000" y="3886200"/>
            <a:ext cx="914400" cy="502920"/>
          </a:xfrm>
          <a:prstGeom prst="rect">
            <a:avLst/>
          </a:prstGeom>
          <a:noFill/>
          <a:ln/>
        </p:spPr>
        <p:txBody>
          <a:bodyPr wrap="square" rtlCol="0" anchor="ctr"/>
          <a:lstStyle/>
          <a:p>
            <a:pPr marL="0" indent="0" algn="r">
              <a:buNone/>
            </a:pPr>
            <a:r>
              <a:rPr lang="en-US" sz="1800" b="1" dirty="0">
                <a:solidFill>
                  <a:srgbClr val="FF6600"/>
                </a:solidFill>
                <a:latin typeface="Times New Roman" pitchFamily="34" charset="0"/>
                <a:ea typeface="Times New Roman" pitchFamily="34" charset="-122"/>
                <a:cs typeface="Times New Roman" pitchFamily="34" charset="-120"/>
              </a:rPr>
              <a:t>6</a:t>
            </a:r>
            <a:endParaRPr lang="en-US" sz="1800" dirty="0"/>
          </a:p>
        </p:txBody>
      </p:sp>
      <p:sp>
        <p:nvSpPr>
          <p:cNvPr id="19" name="Shape 17"/>
          <p:cNvSpPr/>
          <p:nvPr/>
        </p:nvSpPr>
        <p:spPr>
          <a:xfrm>
            <a:off x="6217920" y="1828800"/>
            <a:ext cx="2468880" cy="2560320"/>
          </a:xfrm>
          <a:prstGeom prst="rect">
            <a:avLst/>
          </a:prstGeom>
          <a:solidFill>
            <a:srgbClr val="FFF3E0"/>
          </a:solidFill>
          <a:ln/>
        </p:spPr>
        <p:txBody>
          <a:bodyPr/>
          <a:lstStyle/>
          <a:p>
            <a:endParaRPr lang="en-US"/>
          </a:p>
        </p:txBody>
      </p:sp>
      <p:sp>
        <p:nvSpPr>
          <p:cNvPr id="20" name="Text 18"/>
          <p:cNvSpPr/>
          <p:nvPr/>
        </p:nvSpPr>
        <p:spPr>
          <a:xfrm>
            <a:off x="6217920" y="2103120"/>
            <a:ext cx="2468880" cy="1097280"/>
          </a:xfrm>
          <a:prstGeom prst="rect">
            <a:avLst/>
          </a:prstGeom>
          <a:noFill/>
          <a:ln/>
        </p:spPr>
        <p:txBody>
          <a:bodyPr wrap="square" rtlCol="0" anchor="ctr"/>
          <a:lstStyle/>
          <a:p>
            <a:pPr marL="0" indent="0" algn="ctr">
              <a:buNone/>
            </a:pPr>
            <a:r>
              <a:rPr lang="en-US" sz="6000" b="1" dirty="0">
                <a:solidFill>
                  <a:srgbClr val="FF6600"/>
                </a:solidFill>
                <a:latin typeface="Times New Roman" pitchFamily="34" charset="0"/>
                <a:ea typeface="Times New Roman" pitchFamily="34" charset="-122"/>
                <a:cs typeface="Times New Roman" pitchFamily="34" charset="-120"/>
              </a:rPr>
              <a:t>430</a:t>
            </a:r>
            <a:endParaRPr lang="en-US" sz="6000" dirty="0"/>
          </a:p>
        </p:txBody>
      </p:sp>
      <p:sp>
        <p:nvSpPr>
          <p:cNvPr id="21" name="Text 19"/>
          <p:cNvSpPr/>
          <p:nvPr/>
        </p:nvSpPr>
        <p:spPr>
          <a:xfrm>
            <a:off x="6217920" y="3108960"/>
            <a:ext cx="2468880" cy="365760"/>
          </a:xfrm>
          <a:prstGeom prst="rect">
            <a:avLst/>
          </a:prstGeom>
          <a:noFill/>
          <a:ln/>
        </p:spPr>
        <p:txBody>
          <a:bodyPr wrap="square" rtlCol="0" anchor="ct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Total Badges</a:t>
            </a:r>
            <a:endParaRPr lang="en-US" sz="1600" dirty="0"/>
          </a:p>
        </p:txBody>
      </p:sp>
      <p:sp>
        <p:nvSpPr>
          <p:cNvPr id="22" name="Text 20"/>
          <p:cNvSpPr/>
          <p:nvPr/>
        </p:nvSpPr>
        <p:spPr>
          <a:xfrm>
            <a:off x="6217920" y="3474720"/>
            <a:ext cx="2468880" cy="320040"/>
          </a:xfrm>
          <a:prstGeom prst="rect">
            <a:avLst/>
          </a:prstGeom>
          <a:noFill/>
          <a:ln/>
        </p:spPr>
        <p:txBody>
          <a:bodyPr wrap="square" rtlCol="0" anchor="ctr"/>
          <a:lstStyle/>
          <a:p>
            <a:pPr marL="0" indent="0" algn="ctr">
              <a:buNone/>
            </a:pPr>
            <a:r>
              <a:rPr lang="en-US" sz="1200" dirty="0">
                <a:solidFill>
                  <a:srgbClr val="333333"/>
                </a:solidFill>
                <a:latin typeface="Times New Roman" pitchFamily="34" charset="0"/>
                <a:ea typeface="Times New Roman" pitchFamily="34" charset="-122"/>
                <a:cs typeface="Times New Roman" pitchFamily="34" charset="-120"/>
              </a:rPr>
              <a:t>42% of all credentials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808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Cybersecurity: Our #1 Performing Badge</a:t>
            </a:r>
            <a:endParaRPr lang="en-US" sz="3200" dirty="0"/>
          </a:p>
        </p:txBody>
      </p:sp>
      <p:sp>
        <p:nvSpPr>
          <p:cNvPr id="4" name="Shape 2"/>
          <p:cNvSpPr/>
          <p:nvPr/>
        </p:nvSpPr>
        <p:spPr>
          <a:xfrm>
            <a:off x="914400" y="1371600"/>
            <a:ext cx="7315200" cy="2286000"/>
          </a:xfrm>
          <a:prstGeom prst="rect">
            <a:avLst/>
          </a:prstGeom>
          <a:solidFill>
            <a:srgbClr val="E0F2F1"/>
          </a:solidFill>
          <a:ln/>
        </p:spPr>
        <p:txBody>
          <a:bodyPr/>
          <a:lstStyle/>
          <a:p>
            <a:endParaRPr lang="en-US"/>
          </a:p>
        </p:txBody>
      </p:sp>
      <p:sp>
        <p:nvSpPr>
          <p:cNvPr id="5" name="Shape 3"/>
          <p:cNvSpPr/>
          <p:nvPr/>
        </p:nvSpPr>
        <p:spPr>
          <a:xfrm>
            <a:off x="1371600" y="1828800"/>
            <a:ext cx="1097280" cy="1097280"/>
          </a:xfrm>
          <a:prstGeom prst="ellipse">
            <a:avLst/>
          </a:prstGeom>
          <a:solidFill>
            <a:srgbClr val="008080"/>
          </a:solidFill>
          <a:ln/>
        </p:spPr>
        <p:txBody>
          <a:bodyPr/>
          <a:lstStyle/>
          <a:p>
            <a:endParaRPr lang="en-US"/>
          </a:p>
        </p:txBody>
      </p:sp>
      <p:sp>
        <p:nvSpPr>
          <p:cNvPr id="6" name="Text 4"/>
          <p:cNvSpPr/>
          <p:nvPr/>
        </p:nvSpPr>
        <p:spPr>
          <a:xfrm>
            <a:off x="1371600" y="1828800"/>
            <a:ext cx="1097280" cy="1097280"/>
          </a:xfrm>
          <a:prstGeom prst="rect">
            <a:avLst/>
          </a:prstGeom>
          <a:noFill/>
          <a:ln/>
        </p:spPr>
        <p:txBody>
          <a:bodyPr wrap="square" rtlCol="0" anchor="ctr"/>
          <a:lstStyle/>
          <a:p>
            <a:pPr marL="0" indent="0" algn="ctr">
              <a:buNone/>
            </a:pPr>
            <a:r>
              <a:rPr lang="en-US" sz="3200" dirty="0">
                <a:solidFill>
                  <a:srgbClr val="FFFFFF"/>
                </a:solidFill>
                <a:latin typeface="Times New Roman" pitchFamily="34" charset="0"/>
                <a:ea typeface="Times New Roman" pitchFamily="34" charset="-122"/>
                <a:cs typeface="Times New Roman" pitchFamily="34" charset="-120"/>
              </a:rPr>
              <a:t>🔒</a:t>
            </a:r>
            <a:endParaRPr lang="en-US" sz="3200" dirty="0"/>
          </a:p>
        </p:txBody>
      </p:sp>
      <p:sp>
        <p:nvSpPr>
          <p:cNvPr id="7" name="Text 5"/>
          <p:cNvSpPr/>
          <p:nvPr/>
        </p:nvSpPr>
        <p:spPr>
          <a:xfrm>
            <a:off x="2743200" y="1645920"/>
            <a:ext cx="5029200" cy="457200"/>
          </a:xfrm>
          <a:prstGeom prst="rect">
            <a:avLst/>
          </a:prstGeom>
          <a:noFill/>
          <a:ln/>
        </p:spPr>
        <p:txBody>
          <a:bodyPr wrap="square" rtlCol="0" anchor="ctr"/>
          <a:lstStyle/>
          <a:p>
            <a:pPr marL="0" indent="0">
              <a:buNone/>
            </a:pPr>
            <a:r>
              <a:rPr lang="en-US" sz="2200" b="1" dirty="0">
                <a:solidFill>
                  <a:srgbClr val="008080"/>
                </a:solidFill>
                <a:latin typeface="Times New Roman" pitchFamily="34" charset="0"/>
                <a:ea typeface="Times New Roman" pitchFamily="34" charset="-122"/>
                <a:cs typeface="Times New Roman" pitchFamily="34" charset="-120"/>
              </a:rPr>
              <a:t>Cybersecurity Fundamentals</a:t>
            </a:r>
            <a:endParaRPr lang="en-US" sz="2200" dirty="0"/>
          </a:p>
        </p:txBody>
      </p:sp>
      <p:sp>
        <p:nvSpPr>
          <p:cNvPr id="8" name="Text 6"/>
          <p:cNvSpPr/>
          <p:nvPr/>
        </p:nvSpPr>
        <p:spPr>
          <a:xfrm>
            <a:off x="2743200" y="2103120"/>
            <a:ext cx="5029200" cy="365760"/>
          </a:xfrm>
          <a:prstGeom prst="rect">
            <a:avLst/>
          </a:prstGeom>
          <a:noFill/>
          <a:ln/>
        </p:spPr>
        <p:txBody>
          <a:bodyPr wrap="square" rtlCol="0" anchor="ctr"/>
          <a:lstStyle/>
          <a:p>
            <a:pPr marL="0" indent="0">
              <a:buNone/>
            </a:pPr>
            <a:r>
              <a:rPr lang="en-US" sz="1600" dirty="0">
                <a:solidFill>
                  <a:srgbClr val="333333"/>
                </a:solidFill>
                <a:latin typeface="Times New Roman" pitchFamily="34" charset="0"/>
                <a:ea typeface="Times New Roman" pitchFamily="34" charset="-122"/>
                <a:cs typeface="Times New Roman" pitchFamily="34" charset="-120"/>
              </a:rPr>
              <a:t>Systems Security &amp; Analysis</a:t>
            </a:r>
            <a:endParaRPr lang="en-US" sz="1600" dirty="0"/>
          </a:p>
        </p:txBody>
      </p:sp>
      <p:sp>
        <p:nvSpPr>
          <p:cNvPr id="9" name="Text 7"/>
          <p:cNvSpPr/>
          <p:nvPr/>
        </p:nvSpPr>
        <p:spPr>
          <a:xfrm>
            <a:off x="2743200" y="2651760"/>
            <a:ext cx="1828800" cy="731520"/>
          </a:xfrm>
          <a:prstGeom prst="rect">
            <a:avLst/>
          </a:prstGeom>
          <a:noFill/>
          <a:ln/>
        </p:spPr>
        <p:txBody>
          <a:bodyPr wrap="square" rtlCol="0" anchor="ctr"/>
          <a:lstStyle/>
          <a:p>
            <a:pPr marL="0" indent="0">
              <a:buNone/>
            </a:pPr>
            <a:r>
              <a:rPr lang="en-US" sz="5400" b="1" dirty="0">
                <a:solidFill>
                  <a:srgbClr val="FF6600"/>
                </a:solidFill>
                <a:latin typeface="Times New Roman" pitchFamily="34" charset="0"/>
                <a:ea typeface="Times New Roman" pitchFamily="34" charset="-122"/>
                <a:cs typeface="Times New Roman" pitchFamily="34" charset="-120"/>
              </a:rPr>
              <a:t>231</a:t>
            </a:r>
            <a:endParaRPr lang="en-US" sz="5400" dirty="0"/>
          </a:p>
        </p:txBody>
      </p:sp>
      <p:sp>
        <p:nvSpPr>
          <p:cNvPr id="10" name="Text 8"/>
          <p:cNvSpPr/>
          <p:nvPr/>
        </p:nvSpPr>
        <p:spPr>
          <a:xfrm>
            <a:off x="4572000" y="2880360"/>
            <a:ext cx="2286000" cy="365760"/>
          </a:xfrm>
          <a:prstGeom prst="rect">
            <a:avLst/>
          </a:prstGeom>
          <a:noFill/>
          <a:ln/>
        </p:spPr>
        <p:txBody>
          <a:bodyPr wrap="square" rtlCol="0" anchor="ctr"/>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badges issued</a:t>
            </a:r>
            <a:endParaRPr lang="en-US" sz="1800" dirty="0"/>
          </a:p>
        </p:txBody>
      </p:sp>
      <p:sp>
        <p:nvSpPr>
          <p:cNvPr id="11" name="Shape 9"/>
          <p:cNvSpPr/>
          <p:nvPr/>
        </p:nvSpPr>
        <p:spPr>
          <a:xfrm>
            <a:off x="6858000" y="1371600"/>
            <a:ext cx="1371600" cy="457200"/>
          </a:xfrm>
          <a:prstGeom prst="rect">
            <a:avLst/>
          </a:prstGeom>
          <a:solidFill>
            <a:srgbClr val="FF6600"/>
          </a:solidFill>
          <a:ln/>
        </p:spPr>
        <p:txBody>
          <a:bodyPr/>
          <a:lstStyle/>
          <a:p>
            <a:endParaRPr lang="en-US"/>
          </a:p>
        </p:txBody>
      </p:sp>
      <p:sp>
        <p:nvSpPr>
          <p:cNvPr id="12" name="Text 10"/>
          <p:cNvSpPr/>
          <p:nvPr/>
        </p:nvSpPr>
        <p:spPr>
          <a:xfrm>
            <a:off x="6858000" y="1371600"/>
            <a:ext cx="1371600" cy="457200"/>
          </a:xfrm>
          <a:prstGeom prst="rect">
            <a:avLst/>
          </a:prstGeom>
          <a:noFill/>
          <a:ln/>
        </p:spPr>
        <p:txBody>
          <a:bodyPr wrap="square"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#1 Badge</a:t>
            </a:r>
            <a:endParaRPr lang="en-US" sz="1400" dirty="0"/>
          </a:p>
        </p:txBody>
      </p:sp>
      <p:sp>
        <p:nvSpPr>
          <p:cNvPr id="13" name="Text 11"/>
          <p:cNvSpPr/>
          <p:nvPr/>
        </p:nvSpPr>
        <p:spPr>
          <a:xfrm>
            <a:off x="914400" y="3931920"/>
            <a:ext cx="7315200" cy="411480"/>
          </a:xfrm>
          <a:prstGeom prst="rect">
            <a:avLst/>
          </a:prstGeom>
          <a:noFill/>
          <a:ln/>
        </p:spPr>
        <p:txBody>
          <a:bodyPr wrap="square" rtlCol="0" anchor="ct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35% projected job growth in information security through 2031</a:t>
            </a:r>
            <a:endParaRPr lang="en-US" sz="1600" dirty="0"/>
          </a:p>
        </p:txBody>
      </p:sp>
      <p:sp>
        <p:nvSpPr>
          <p:cNvPr id="14" name="Text 12"/>
          <p:cNvSpPr/>
          <p:nvPr/>
        </p:nvSpPr>
        <p:spPr>
          <a:xfrm>
            <a:off x="914400" y="4297680"/>
            <a:ext cx="7315200" cy="320040"/>
          </a:xfrm>
          <a:prstGeom prst="rect">
            <a:avLst/>
          </a:prstGeom>
          <a:noFill/>
          <a:ln/>
        </p:spPr>
        <p:txBody>
          <a:bodyPr wrap="square" rtlCol="0" anchor="ctr"/>
          <a:lstStyle/>
          <a:p>
            <a:pPr marL="0" indent="0" algn="ctr">
              <a:buNone/>
            </a:pPr>
            <a:r>
              <a:rPr lang="en-US" sz="1200" i="1" dirty="0">
                <a:solidFill>
                  <a:srgbClr val="333333"/>
                </a:solidFill>
                <a:latin typeface="Times New Roman" pitchFamily="34" charset="0"/>
                <a:ea typeface="Times New Roman" pitchFamily="34" charset="-122"/>
                <a:cs typeface="Times New Roman" pitchFamily="34" charset="-120"/>
              </a:rPr>
              <a:t>— Bureau of Labor Statistics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F660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3000" b="1" dirty="0">
                <a:solidFill>
                  <a:srgbClr val="FFFFFF"/>
                </a:solidFill>
                <a:latin typeface="Times New Roman" pitchFamily="34" charset="0"/>
                <a:ea typeface="Times New Roman" pitchFamily="34" charset="-122"/>
                <a:cs typeface="Times New Roman" pitchFamily="34" charset="-120"/>
              </a:rPr>
              <a:t>Supporting Nursing, MLT, and Allied Health</a:t>
            </a:r>
            <a:endParaRPr lang="en-US" sz="3000" dirty="0"/>
          </a:p>
        </p:txBody>
      </p:sp>
      <p:sp>
        <p:nvSpPr>
          <p:cNvPr id="4" name="Shape 2"/>
          <p:cNvSpPr/>
          <p:nvPr/>
        </p:nvSpPr>
        <p:spPr>
          <a:xfrm>
            <a:off x="640080" y="1280160"/>
            <a:ext cx="548640" cy="548640"/>
          </a:xfrm>
          <a:prstGeom prst="ellipse">
            <a:avLst/>
          </a:prstGeom>
          <a:solidFill>
            <a:srgbClr val="FF6600"/>
          </a:solidFill>
          <a:ln/>
        </p:spPr>
        <p:txBody>
          <a:bodyPr/>
          <a:lstStyle/>
          <a:p>
            <a:endParaRPr lang="en-US"/>
          </a:p>
        </p:txBody>
      </p:sp>
      <p:sp>
        <p:nvSpPr>
          <p:cNvPr id="5" name="Text 3"/>
          <p:cNvSpPr/>
          <p:nvPr/>
        </p:nvSpPr>
        <p:spPr>
          <a:xfrm>
            <a:off x="640080" y="1280160"/>
            <a:ext cx="548640" cy="548640"/>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HC</a:t>
            </a:r>
            <a:endParaRPr lang="en-US" sz="1200" dirty="0"/>
          </a:p>
        </p:txBody>
      </p:sp>
      <p:sp>
        <p:nvSpPr>
          <p:cNvPr id="6" name="Text 4"/>
          <p:cNvSpPr/>
          <p:nvPr/>
        </p:nvSpPr>
        <p:spPr>
          <a:xfrm>
            <a:off x="1371600" y="1325880"/>
            <a:ext cx="1828800" cy="457200"/>
          </a:xfrm>
          <a:prstGeom prst="rect">
            <a:avLst/>
          </a:prstGeom>
          <a:noFill/>
          <a:ln/>
        </p:spPr>
        <p:txBody>
          <a:bodyPr wrap="square" rtlCol="0" anchor="ctr"/>
          <a:lstStyle/>
          <a:p>
            <a:pPr marL="0" indent="0">
              <a:buNone/>
            </a:pPr>
            <a:r>
              <a:rPr lang="en-US" sz="1800" b="1" dirty="0">
                <a:solidFill>
                  <a:srgbClr val="FF6600"/>
                </a:solidFill>
                <a:latin typeface="Times New Roman" pitchFamily="34" charset="0"/>
                <a:ea typeface="Times New Roman" pitchFamily="34" charset="-122"/>
                <a:cs typeface="Times New Roman" pitchFamily="34" charset="-120"/>
              </a:rPr>
              <a:t>Healthcare</a:t>
            </a:r>
            <a:endParaRPr lang="en-US" sz="1800" dirty="0"/>
          </a:p>
        </p:txBody>
      </p:sp>
      <p:sp>
        <p:nvSpPr>
          <p:cNvPr id="7" name="Shape 5"/>
          <p:cNvSpPr/>
          <p:nvPr/>
        </p:nvSpPr>
        <p:spPr>
          <a:xfrm>
            <a:off x="640080" y="1920240"/>
            <a:ext cx="5303520" cy="457200"/>
          </a:xfrm>
          <a:prstGeom prst="rect">
            <a:avLst/>
          </a:prstGeom>
          <a:solidFill>
            <a:srgbClr val="F5F5F5"/>
          </a:solidFill>
          <a:ln/>
        </p:spPr>
        <p:txBody>
          <a:bodyPr/>
          <a:lstStyle/>
          <a:p>
            <a:endParaRPr lang="en-US"/>
          </a:p>
        </p:txBody>
      </p:sp>
      <p:sp>
        <p:nvSpPr>
          <p:cNvPr id="8" name="Text 6"/>
          <p:cNvSpPr/>
          <p:nvPr/>
        </p:nvSpPr>
        <p:spPr>
          <a:xfrm>
            <a:off x="822960" y="1920240"/>
            <a:ext cx="4114800" cy="457200"/>
          </a:xfrm>
          <a:prstGeom prst="rect">
            <a:avLst/>
          </a:prstGeom>
          <a:noFill/>
          <a:ln/>
        </p:spPr>
        <p:txBody>
          <a:bodyPr wrap="square" rtlCol="0" anchor="ctr"/>
          <a:lstStyle/>
          <a:p>
            <a:pPr marL="0" indent="0">
              <a:buNone/>
            </a:pPr>
            <a:r>
              <a:rPr lang="en-US" sz="1400" dirty="0">
                <a:solidFill>
                  <a:srgbClr val="000000"/>
                </a:solidFill>
                <a:latin typeface="Times New Roman" pitchFamily="34" charset="0"/>
                <a:ea typeface="Times New Roman" pitchFamily="34" charset="-122"/>
                <a:cs typeface="Times New Roman" pitchFamily="34" charset="-120"/>
              </a:rPr>
              <a:t>Basic Spanish for Healthcare Professional</a:t>
            </a:r>
            <a:endParaRPr lang="en-US" sz="1400" dirty="0"/>
          </a:p>
        </p:txBody>
      </p:sp>
      <p:sp>
        <p:nvSpPr>
          <p:cNvPr id="9" name="Text 7"/>
          <p:cNvSpPr/>
          <p:nvPr/>
        </p:nvSpPr>
        <p:spPr>
          <a:xfrm>
            <a:off x="4937760" y="1920240"/>
            <a:ext cx="822960" cy="457200"/>
          </a:xfrm>
          <a:prstGeom prst="rect">
            <a:avLst/>
          </a:prstGeom>
          <a:noFill/>
          <a:ln/>
        </p:spPr>
        <p:txBody>
          <a:bodyPr wrap="square" rtlCol="0" anchor="ctr"/>
          <a:lstStyle/>
          <a:p>
            <a:pPr marL="0" indent="0" algn="r">
              <a:buNone/>
            </a:pPr>
            <a:r>
              <a:rPr lang="en-US" sz="1600" b="1" dirty="0">
                <a:solidFill>
                  <a:srgbClr val="FF6600"/>
                </a:solidFill>
                <a:latin typeface="Times New Roman" pitchFamily="34" charset="0"/>
                <a:ea typeface="Times New Roman" pitchFamily="34" charset="-122"/>
                <a:cs typeface="Times New Roman" pitchFamily="34" charset="-120"/>
              </a:rPr>
              <a:t>50</a:t>
            </a:r>
            <a:endParaRPr lang="en-US" sz="1600" dirty="0"/>
          </a:p>
        </p:txBody>
      </p:sp>
      <p:sp>
        <p:nvSpPr>
          <p:cNvPr id="10" name="Shape 8"/>
          <p:cNvSpPr/>
          <p:nvPr/>
        </p:nvSpPr>
        <p:spPr>
          <a:xfrm>
            <a:off x="640080" y="2450592"/>
            <a:ext cx="5303520" cy="457200"/>
          </a:xfrm>
          <a:prstGeom prst="rect">
            <a:avLst/>
          </a:prstGeom>
          <a:solidFill>
            <a:srgbClr val="F5F5F5"/>
          </a:solidFill>
          <a:ln/>
        </p:spPr>
        <p:txBody>
          <a:bodyPr/>
          <a:lstStyle/>
          <a:p>
            <a:endParaRPr lang="en-US"/>
          </a:p>
        </p:txBody>
      </p:sp>
      <p:sp>
        <p:nvSpPr>
          <p:cNvPr id="11" name="Text 9"/>
          <p:cNvSpPr/>
          <p:nvPr/>
        </p:nvSpPr>
        <p:spPr>
          <a:xfrm>
            <a:off x="822960" y="2450592"/>
            <a:ext cx="4114800" cy="457200"/>
          </a:xfrm>
          <a:prstGeom prst="rect">
            <a:avLst/>
          </a:prstGeom>
          <a:noFill/>
          <a:ln/>
        </p:spPr>
        <p:txBody>
          <a:bodyPr wrap="square" rtlCol="0" anchor="ctr"/>
          <a:lstStyle/>
          <a:p>
            <a:pPr marL="0" indent="0">
              <a:buNone/>
            </a:pPr>
            <a:r>
              <a:rPr lang="en-US" sz="1400" dirty="0">
                <a:solidFill>
                  <a:srgbClr val="000000"/>
                </a:solidFill>
                <a:latin typeface="Times New Roman" pitchFamily="34" charset="0"/>
                <a:ea typeface="Times New Roman" pitchFamily="34" charset="-122"/>
                <a:cs typeface="Times New Roman" pitchFamily="34" charset="-120"/>
              </a:rPr>
              <a:t>CPR Certified</a:t>
            </a:r>
            <a:endParaRPr lang="en-US" sz="1400" dirty="0"/>
          </a:p>
        </p:txBody>
      </p:sp>
      <p:sp>
        <p:nvSpPr>
          <p:cNvPr id="12" name="Text 10"/>
          <p:cNvSpPr/>
          <p:nvPr/>
        </p:nvSpPr>
        <p:spPr>
          <a:xfrm>
            <a:off x="4937760" y="2450592"/>
            <a:ext cx="822960" cy="457200"/>
          </a:xfrm>
          <a:prstGeom prst="rect">
            <a:avLst/>
          </a:prstGeom>
          <a:noFill/>
          <a:ln/>
        </p:spPr>
        <p:txBody>
          <a:bodyPr wrap="square" rtlCol="0" anchor="ctr"/>
          <a:lstStyle/>
          <a:p>
            <a:pPr marL="0" indent="0" algn="r">
              <a:buNone/>
            </a:pPr>
            <a:r>
              <a:rPr lang="en-US" sz="1600" b="1" dirty="0">
                <a:solidFill>
                  <a:srgbClr val="FF6600"/>
                </a:solidFill>
                <a:latin typeface="Times New Roman" pitchFamily="34" charset="0"/>
                <a:ea typeface="Times New Roman" pitchFamily="34" charset="-122"/>
                <a:cs typeface="Times New Roman" pitchFamily="34" charset="-120"/>
              </a:rPr>
              <a:t>37</a:t>
            </a:r>
            <a:endParaRPr lang="en-US" sz="1600" dirty="0"/>
          </a:p>
        </p:txBody>
      </p:sp>
      <p:sp>
        <p:nvSpPr>
          <p:cNvPr id="13" name="Shape 11"/>
          <p:cNvSpPr/>
          <p:nvPr/>
        </p:nvSpPr>
        <p:spPr>
          <a:xfrm>
            <a:off x="640080" y="2980944"/>
            <a:ext cx="5303520" cy="457200"/>
          </a:xfrm>
          <a:prstGeom prst="rect">
            <a:avLst/>
          </a:prstGeom>
          <a:solidFill>
            <a:srgbClr val="F5F5F5"/>
          </a:solidFill>
          <a:ln/>
        </p:spPr>
        <p:txBody>
          <a:bodyPr/>
          <a:lstStyle/>
          <a:p>
            <a:endParaRPr lang="en-US"/>
          </a:p>
        </p:txBody>
      </p:sp>
      <p:sp>
        <p:nvSpPr>
          <p:cNvPr id="14" name="Text 12"/>
          <p:cNvSpPr/>
          <p:nvPr/>
        </p:nvSpPr>
        <p:spPr>
          <a:xfrm>
            <a:off x="822960" y="2980944"/>
            <a:ext cx="4114800" cy="457200"/>
          </a:xfrm>
          <a:prstGeom prst="rect">
            <a:avLst/>
          </a:prstGeom>
          <a:noFill/>
          <a:ln/>
        </p:spPr>
        <p:txBody>
          <a:bodyPr wrap="square" rtlCol="0" anchor="ctr"/>
          <a:lstStyle/>
          <a:p>
            <a:pPr marL="0" indent="0">
              <a:buNone/>
            </a:pPr>
            <a:r>
              <a:rPr lang="en-US" sz="1400" dirty="0">
                <a:solidFill>
                  <a:srgbClr val="000000"/>
                </a:solidFill>
                <a:latin typeface="Times New Roman" pitchFamily="34" charset="0"/>
                <a:ea typeface="Times New Roman" pitchFamily="34" charset="-122"/>
                <a:cs typeface="Times New Roman" pitchFamily="34" charset="-120"/>
              </a:rPr>
              <a:t>Diagnostic Microbiology</a:t>
            </a:r>
            <a:endParaRPr lang="en-US" sz="1400" dirty="0"/>
          </a:p>
        </p:txBody>
      </p:sp>
      <p:sp>
        <p:nvSpPr>
          <p:cNvPr id="15" name="Text 13"/>
          <p:cNvSpPr/>
          <p:nvPr/>
        </p:nvSpPr>
        <p:spPr>
          <a:xfrm>
            <a:off x="4937760" y="2980944"/>
            <a:ext cx="822960" cy="457200"/>
          </a:xfrm>
          <a:prstGeom prst="rect">
            <a:avLst/>
          </a:prstGeom>
          <a:noFill/>
          <a:ln/>
        </p:spPr>
        <p:txBody>
          <a:bodyPr wrap="square" rtlCol="0" anchor="ctr"/>
          <a:lstStyle/>
          <a:p>
            <a:pPr marL="0" indent="0" algn="r">
              <a:buNone/>
            </a:pPr>
            <a:r>
              <a:rPr lang="en-US" sz="1600" b="1" dirty="0">
                <a:solidFill>
                  <a:srgbClr val="FF6600"/>
                </a:solidFill>
                <a:latin typeface="Times New Roman" pitchFamily="34" charset="0"/>
                <a:ea typeface="Times New Roman" pitchFamily="34" charset="-122"/>
                <a:cs typeface="Times New Roman" pitchFamily="34" charset="-120"/>
              </a:rPr>
              <a:t>30</a:t>
            </a:r>
            <a:endParaRPr lang="en-US" sz="1600" dirty="0"/>
          </a:p>
        </p:txBody>
      </p:sp>
      <p:sp>
        <p:nvSpPr>
          <p:cNvPr id="16" name="Shape 14"/>
          <p:cNvSpPr/>
          <p:nvPr/>
        </p:nvSpPr>
        <p:spPr>
          <a:xfrm>
            <a:off x="640080" y="3511296"/>
            <a:ext cx="5303520" cy="457200"/>
          </a:xfrm>
          <a:prstGeom prst="rect">
            <a:avLst/>
          </a:prstGeom>
          <a:solidFill>
            <a:srgbClr val="F5F5F5"/>
          </a:solidFill>
          <a:ln/>
        </p:spPr>
        <p:txBody>
          <a:bodyPr/>
          <a:lstStyle/>
          <a:p>
            <a:endParaRPr lang="en-US"/>
          </a:p>
        </p:txBody>
      </p:sp>
      <p:sp>
        <p:nvSpPr>
          <p:cNvPr id="17" name="Text 15"/>
          <p:cNvSpPr/>
          <p:nvPr/>
        </p:nvSpPr>
        <p:spPr>
          <a:xfrm>
            <a:off x="822960" y="3511296"/>
            <a:ext cx="4114800" cy="457200"/>
          </a:xfrm>
          <a:prstGeom prst="rect">
            <a:avLst/>
          </a:prstGeom>
          <a:noFill/>
          <a:ln/>
        </p:spPr>
        <p:txBody>
          <a:bodyPr wrap="square" rtlCol="0" anchor="ctr"/>
          <a:lstStyle/>
          <a:p>
            <a:pPr marL="0" indent="0">
              <a:buNone/>
            </a:pPr>
            <a:r>
              <a:rPr lang="en-US" sz="1400" dirty="0">
                <a:solidFill>
                  <a:srgbClr val="000000"/>
                </a:solidFill>
                <a:latin typeface="Times New Roman" pitchFamily="34" charset="0"/>
                <a:ea typeface="Times New Roman" pitchFamily="34" charset="-122"/>
                <a:cs typeface="Times New Roman" pitchFamily="34" charset="-120"/>
              </a:rPr>
              <a:t>Diagnostic Hematology</a:t>
            </a:r>
            <a:endParaRPr lang="en-US" sz="1400" dirty="0"/>
          </a:p>
        </p:txBody>
      </p:sp>
      <p:sp>
        <p:nvSpPr>
          <p:cNvPr id="18" name="Text 16"/>
          <p:cNvSpPr/>
          <p:nvPr/>
        </p:nvSpPr>
        <p:spPr>
          <a:xfrm>
            <a:off x="4937760" y="3511296"/>
            <a:ext cx="822960" cy="457200"/>
          </a:xfrm>
          <a:prstGeom prst="rect">
            <a:avLst/>
          </a:prstGeom>
          <a:noFill/>
          <a:ln/>
        </p:spPr>
        <p:txBody>
          <a:bodyPr wrap="square" rtlCol="0" anchor="ctr"/>
          <a:lstStyle/>
          <a:p>
            <a:pPr marL="0" indent="0" algn="r">
              <a:buNone/>
            </a:pPr>
            <a:r>
              <a:rPr lang="en-US" sz="1600" b="1" dirty="0">
                <a:solidFill>
                  <a:srgbClr val="FF6600"/>
                </a:solidFill>
                <a:latin typeface="Times New Roman" pitchFamily="34" charset="0"/>
                <a:ea typeface="Times New Roman" pitchFamily="34" charset="-122"/>
                <a:cs typeface="Times New Roman" pitchFamily="34" charset="-120"/>
              </a:rPr>
              <a:t>29</a:t>
            </a:r>
            <a:endParaRPr lang="en-US" sz="1600" dirty="0"/>
          </a:p>
        </p:txBody>
      </p:sp>
      <p:sp>
        <p:nvSpPr>
          <p:cNvPr id="19" name="Shape 17"/>
          <p:cNvSpPr/>
          <p:nvPr/>
        </p:nvSpPr>
        <p:spPr>
          <a:xfrm>
            <a:off x="640080" y="4041648"/>
            <a:ext cx="5303520" cy="457200"/>
          </a:xfrm>
          <a:prstGeom prst="rect">
            <a:avLst/>
          </a:prstGeom>
          <a:solidFill>
            <a:srgbClr val="F5F5F5"/>
          </a:solidFill>
          <a:ln/>
        </p:spPr>
        <p:txBody>
          <a:bodyPr/>
          <a:lstStyle/>
          <a:p>
            <a:endParaRPr lang="en-US"/>
          </a:p>
        </p:txBody>
      </p:sp>
      <p:sp>
        <p:nvSpPr>
          <p:cNvPr id="20" name="Text 18"/>
          <p:cNvSpPr/>
          <p:nvPr/>
        </p:nvSpPr>
        <p:spPr>
          <a:xfrm>
            <a:off x="822960" y="4041648"/>
            <a:ext cx="4114800" cy="457200"/>
          </a:xfrm>
          <a:prstGeom prst="rect">
            <a:avLst/>
          </a:prstGeom>
          <a:noFill/>
          <a:ln/>
        </p:spPr>
        <p:txBody>
          <a:bodyPr wrap="square" rtlCol="0" anchor="ctr"/>
          <a:lstStyle/>
          <a:p>
            <a:pPr marL="0" indent="0">
              <a:buNone/>
            </a:pPr>
            <a:r>
              <a:rPr lang="en-US" sz="1400" dirty="0">
                <a:solidFill>
                  <a:srgbClr val="000000"/>
                </a:solidFill>
                <a:latin typeface="Times New Roman" pitchFamily="34" charset="0"/>
                <a:ea typeface="Times New Roman" pitchFamily="34" charset="-122"/>
                <a:cs typeface="Times New Roman" pitchFamily="34" charset="-120"/>
              </a:rPr>
              <a:t>Diagnostic Clinical Chemistry</a:t>
            </a:r>
            <a:endParaRPr lang="en-US" sz="1400" dirty="0"/>
          </a:p>
        </p:txBody>
      </p:sp>
      <p:sp>
        <p:nvSpPr>
          <p:cNvPr id="21" name="Text 19"/>
          <p:cNvSpPr/>
          <p:nvPr/>
        </p:nvSpPr>
        <p:spPr>
          <a:xfrm>
            <a:off x="4937760" y="4041648"/>
            <a:ext cx="822960" cy="457200"/>
          </a:xfrm>
          <a:prstGeom prst="rect">
            <a:avLst/>
          </a:prstGeom>
          <a:noFill/>
          <a:ln/>
        </p:spPr>
        <p:txBody>
          <a:bodyPr wrap="square" rtlCol="0" anchor="ctr"/>
          <a:lstStyle/>
          <a:p>
            <a:pPr marL="0" indent="0" algn="r">
              <a:buNone/>
            </a:pPr>
            <a:r>
              <a:rPr lang="en-US" sz="1600" b="1" dirty="0">
                <a:solidFill>
                  <a:srgbClr val="FF6600"/>
                </a:solidFill>
                <a:latin typeface="Times New Roman" pitchFamily="34" charset="0"/>
                <a:ea typeface="Times New Roman" pitchFamily="34" charset="-122"/>
                <a:cs typeface="Times New Roman" pitchFamily="34" charset="-120"/>
              </a:rPr>
              <a:t>29</a:t>
            </a:r>
            <a:endParaRPr lang="en-US" sz="1600" dirty="0"/>
          </a:p>
        </p:txBody>
      </p:sp>
      <p:sp>
        <p:nvSpPr>
          <p:cNvPr id="22" name="Shape 20"/>
          <p:cNvSpPr/>
          <p:nvPr/>
        </p:nvSpPr>
        <p:spPr>
          <a:xfrm>
            <a:off x="6400800" y="1828800"/>
            <a:ext cx="2286000" cy="2286000"/>
          </a:xfrm>
          <a:prstGeom prst="rect">
            <a:avLst/>
          </a:prstGeom>
          <a:solidFill>
            <a:srgbClr val="FFF3E0"/>
          </a:solidFill>
          <a:ln/>
        </p:spPr>
        <p:txBody>
          <a:bodyPr/>
          <a:lstStyle/>
          <a:p>
            <a:endParaRPr lang="en-US"/>
          </a:p>
        </p:txBody>
      </p:sp>
      <p:sp>
        <p:nvSpPr>
          <p:cNvPr id="23" name="Text 21"/>
          <p:cNvSpPr/>
          <p:nvPr/>
        </p:nvSpPr>
        <p:spPr>
          <a:xfrm>
            <a:off x="6400800" y="2103120"/>
            <a:ext cx="2286000" cy="914400"/>
          </a:xfrm>
          <a:prstGeom prst="rect">
            <a:avLst/>
          </a:prstGeom>
          <a:noFill/>
          <a:ln/>
        </p:spPr>
        <p:txBody>
          <a:bodyPr wrap="square" rtlCol="0" anchor="ctr"/>
          <a:lstStyle/>
          <a:p>
            <a:pPr marL="0" indent="0" algn="ctr">
              <a:buNone/>
            </a:pPr>
            <a:r>
              <a:rPr lang="en-US" sz="5200" b="1" dirty="0">
                <a:solidFill>
                  <a:srgbClr val="FF6600"/>
                </a:solidFill>
                <a:latin typeface="Times New Roman" pitchFamily="34" charset="0"/>
                <a:ea typeface="Times New Roman" pitchFamily="34" charset="-122"/>
                <a:cs typeface="Times New Roman" pitchFamily="34" charset="-120"/>
              </a:rPr>
              <a:t>195</a:t>
            </a:r>
            <a:endParaRPr lang="en-US" sz="5200" dirty="0"/>
          </a:p>
        </p:txBody>
      </p:sp>
      <p:sp>
        <p:nvSpPr>
          <p:cNvPr id="24" name="Text 22"/>
          <p:cNvSpPr/>
          <p:nvPr/>
        </p:nvSpPr>
        <p:spPr>
          <a:xfrm>
            <a:off x="6400800" y="2926080"/>
            <a:ext cx="2286000" cy="365760"/>
          </a:xfrm>
          <a:prstGeom prst="rect">
            <a:avLst/>
          </a:prstGeom>
          <a:noFill/>
          <a:ln/>
        </p:spPr>
        <p:txBody>
          <a:bodyPr wrap="square" rtlCol="0" anchor="ctr"/>
          <a:lstStyle/>
          <a:p>
            <a:pPr marL="0" indent="0" algn="ctr">
              <a:buNone/>
            </a:pPr>
            <a:r>
              <a:rPr lang="en-US" sz="1500" dirty="0">
                <a:solidFill>
                  <a:srgbClr val="000000"/>
                </a:solidFill>
                <a:latin typeface="Times New Roman" pitchFamily="34" charset="0"/>
                <a:ea typeface="Times New Roman" pitchFamily="34" charset="-122"/>
                <a:cs typeface="Times New Roman" pitchFamily="34" charset="-120"/>
              </a:rPr>
              <a:t>Total Badges</a:t>
            </a:r>
            <a:endParaRPr lang="en-US" sz="1500" dirty="0"/>
          </a:p>
        </p:txBody>
      </p:sp>
      <p:sp>
        <p:nvSpPr>
          <p:cNvPr id="25" name="Text 23"/>
          <p:cNvSpPr/>
          <p:nvPr/>
        </p:nvSpPr>
        <p:spPr>
          <a:xfrm>
            <a:off x="6400800" y="3246120"/>
            <a:ext cx="2286000" cy="320040"/>
          </a:xfrm>
          <a:prstGeom prst="rect">
            <a:avLst/>
          </a:prstGeom>
          <a:noFill/>
          <a:ln/>
        </p:spPr>
        <p:txBody>
          <a:bodyPr wrap="square" rtlCol="0" anchor="ctr"/>
          <a:lstStyle/>
          <a:p>
            <a:pPr marL="0" indent="0" algn="ctr">
              <a:buNone/>
            </a:pPr>
            <a:r>
              <a:rPr lang="en-US" sz="1100" dirty="0">
                <a:solidFill>
                  <a:srgbClr val="333333"/>
                </a:solidFill>
                <a:latin typeface="Times New Roman" pitchFamily="34" charset="0"/>
                <a:ea typeface="Times New Roman" pitchFamily="34" charset="-122"/>
                <a:cs typeface="Times New Roman" pitchFamily="34" charset="-120"/>
              </a:rPr>
              <a:t>19% of all credentials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808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FFFFFF"/>
                </a:solidFill>
                <a:latin typeface="Times New Roman" pitchFamily="34" charset="0"/>
                <a:ea typeface="Times New Roman" pitchFamily="34" charset="-122"/>
                <a:cs typeface="Times New Roman" pitchFamily="34" charset="-120"/>
              </a:rPr>
              <a:t>Process Improvement Skills Valued Across Industries</a:t>
            </a:r>
            <a:endParaRPr lang="en-US" sz="2800" dirty="0"/>
          </a:p>
        </p:txBody>
      </p:sp>
      <p:sp>
        <p:nvSpPr>
          <p:cNvPr id="4" name="Shape 2"/>
          <p:cNvSpPr/>
          <p:nvPr/>
        </p:nvSpPr>
        <p:spPr>
          <a:xfrm>
            <a:off x="640080" y="1371600"/>
            <a:ext cx="3657600" cy="2560320"/>
          </a:xfrm>
          <a:prstGeom prst="rect">
            <a:avLst/>
          </a:prstGeom>
          <a:solidFill>
            <a:srgbClr val="E0F2F1"/>
          </a:solidFill>
          <a:ln/>
        </p:spPr>
        <p:txBody>
          <a:bodyPr/>
          <a:lstStyle/>
          <a:p>
            <a:endParaRPr lang="en-US"/>
          </a:p>
        </p:txBody>
      </p:sp>
      <p:sp>
        <p:nvSpPr>
          <p:cNvPr id="5" name="Shape 3"/>
          <p:cNvSpPr/>
          <p:nvPr/>
        </p:nvSpPr>
        <p:spPr>
          <a:xfrm>
            <a:off x="640080" y="1371600"/>
            <a:ext cx="3657600" cy="548640"/>
          </a:xfrm>
          <a:prstGeom prst="rect">
            <a:avLst/>
          </a:prstGeom>
          <a:solidFill>
            <a:srgbClr val="009933"/>
          </a:solidFill>
          <a:ln/>
        </p:spPr>
        <p:txBody>
          <a:bodyPr/>
          <a:lstStyle/>
          <a:p>
            <a:endParaRPr lang="en-US"/>
          </a:p>
        </p:txBody>
      </p:sp>
      <p:sp>
        <p:nvSpPr>
          <p:cNvPr id="6" name="Text 4"/>
          <p:cNvSpPr/>
          <p:nvPr/>
        </p:nvSpPr>
        <p:spPr>
          <a:xfrm>
            <a:off x="640080" y="1371600"/>
            <a:ext cx="3657600" cy="548640"/>
          </a:xfrm>
          <a:prstGeom prst="rect">
            <a:avLst/>
          </a:prstGeom>
          <a:noFill/>
          <a:ln/>
        </p:spPr>
        <p:txBody>
          <a:bodyPr wrap="square"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Lean Six Sigma Green Belt</a:t>
            </a:r>
            <a:endParaRPr lang="en-US" sz="1600" dirty="0"/>
          </a:p>
        </p:txBody>
      </p:sp>
      <p:sp>
        <p:nvSpPr>
          <p:cNvPr id="7" name="Text 5"/>
          <p:cNvSpPr/>
          <p:nvPr/>
        </p:nvSpPr>
        <p:spPr>
          <a:xfrm>
            <a:off x="640080" y="2103120"/>
            <a:ext cx="3657600" cy="914400"/>
          </a:xfrm>
          <a:prstGeom prst="rect">
            <a:avLst/>
          </a:prstGeom>
          <a:noFill/>
          <a:ln/>
        </p:spPr>
        <p:txBody>
          <a:bodyPr wrap="square" rtlCol="0" anchor="ctr"/>
          <a:lstStyle/>
          <a:p>
            <a:pPr marL="0" indent="0" algn="ctr">
              <a:buNone/>
            </a:pPr>
            <a:r>
              <a:rPr lang="en-US" sz="6000" b="1" dirty="0">
                <a:solidFill>
                  <a:srgbClr val="008080"/>
                </a:solidFill>
                <a:latin typeface="Times New Roman" pitchFamily="34" charset="0"/>
                <a:ea typeface="Times New Roman" pitchFamily="34" charset="-122"/>
                <a:cs typeface="Times New Roman" pitchFamily="34" charset="-120"/>
              </a:rPr>
              <a:t>95</a:t>
            </a:r>
            <a:endParaRPr lang="en-US" sz="6000" dirty="0"/>
          </a:p>
        </p:txBody>
      </p:sp>
      <p:sp>
        <p:nvSpPr>
          <p:cNvPr id="8" name="Text 6"/>
          <p:cNvSpPr/>
          <p:nvPr/>
        </p:nvSpPr>
        <p:spPr>
          <a:xfrm>
            <a:off x="640080" y="3017520"/>
            <a:ext cx="3657600" cy="365760"/>
          </a:xfrm>
          <a:prstGeom prst="rect">
            <a:avLst/>
          </a:prstGeom>
          <a:noFill/>
          <a:ln/>
        </p:spPr>
        <p:txBody>
          <a:bodyPr wrap="square" rtlCol="0" anchor="ct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badges issued</a:t>
            </a:r>
            <a:endParaRPr lang="en-US" sz="1600" dirty="0"/>
          </a:p>
        </p:txBody>
      </p:sp>
      <p:sp>
        <p:nvSpPr>
          <p:cNvPr id="9" name="Shape 7"/>
          <p:cNvSpPr/>
          <p:nvPr/>
        </p:nvSpPr>
        <p:spPr>
          <a:xfrm>
            <a:off x="4846320" y="1371600"/>
            <a:ext cx="3657600" cy="2560320"/>
          </a:xfrm>
          <a:prstGeom prst="rect">
            <a:avLst/>
          </a:prstGeom>
          <a:solidFill>
            <a:srgbClr val="FFF3E0"/>
          </a:solidFill>
          <a:ln/>
        </p:spPr>
        <p:txBody>
          <a:bodyPr/>
          <a:lstStyle/>
          <a:p>
            <a:endParaRPr lang="en-US"/>
          </a:p>
        </p:txBody>
      </p:sp>
      <p:sp>
        <p:nvSpPr>
          <p:cNvPr id="10" name="Shape 8"/>
          <p:cNvSpPr/>
          <p:nvPr/>
        </p:nvSpPr>
        <p:spPr>
          <a:xfrm>
            <a:off x="4846320" y="1371600"/>
            <a:ext cx="3657600" cy="548640"/>
          </a:xfrm>
          <a:prstGeom prst="rect">
            <a:avLst/>
          </a:prstGeom>
          <a:solidFill>
            <a:srgbClr val="FFCC00"/>
          </a:solidFill>
          <a:ln/>
        </p:spPr>
        <p:txBody>
          <a:bodyPr/>
          <a:lstStyle/>
          <a:p>
            <a:endParaRPr lang="en-US"/>
          </a:p>
        </p:txBody>
      </p:sp>
      <p:sp>
        <p:nvSpPr>
          <p:cNvPr id="11" name="Text 9"/>
          <p:cNvSpPr/>
          <p:nvPr/>
        </p:nvSpPr>
        <p:spPr>
          <a:xfrm>
            <a:off x="4846320" y="1371600"/>
            <a:ext cx="3657600" cy="548640"/>
          </a:xfrm>
          <a:prstGeom prst="rect">
            <a:avLst/>
          </a:prstGeom>
          <a:noFill/>
          <a:ln/>
        </p:spPr>
        <p:txBody>
          <a:bodyPr wrap="square"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Lean Six Sigma Yellow Belt</a:t>
            </a:r>
            <a:endParaRPr lang="en-US" sz="1600" dirty="0"/>
          </a:p>
        </p:txBody>
      </p:sp>
      <p:sp>
        <p:nvSpPr>
          <p:cNvPr id="12" name="Text 10"/>
          <p:cNvSpPr/>
          <p:nvPr/>
        </p:nvSpPr>
        <p:spPr>
          <a:xfrm>
            <a:off x="4846320" y="2103120"/>
            <a:ext cx="3657600" cy="914400"/>
          </a:xfrm>
          <a:prstGeom prst="rect">
            <a:avLst/>
          </a:prstGeom>
          <a:noFill/>
          <a:ln/>
        </p:spPr>
        <p:txBody>
          <a:bodyPr wrap="square" rtlCol="0" anchor="ctr"/>
          <a:lstStyle/>
          <a:p>
            <a:pPr marL="0" indent="0" algn="ctr">
              <a:buNone/>
            </a:pPr>
            <a:r>
              <a:rPr lang="en-US" sz="6000" b="1" dirty="0">
                <a:solidFill>
                  <a:srgbClr val="FF6600"/>
                </a:solidFill>
                <a:latin typeface="Times New Roman" pitchFamily="34" charset="0"/>
                <a:ea typeface="Times New Roman" pitchFamily="34" charset="-122"/>
                <a:cs typeface="Times New Roman" pitchFamily="34" charset="-120"/>
              </a:rPr>
              <a:t>52</a:t>
            </a:r>
            <a:endParaRPr lang="en-US" sz="6000" dirty="0"/>
          </a:p>
        </p:txBody>
      </p:sp>
      <p:sp>
        <p:nvSpPr>
          <p:cNvPr id="13" name="Text 11"/>
          <p:cNvSpPr/>
          <p:nvPr/>
        </p:nvSpPr>
        <p:spPr>
          <a:xfrm>
            <a:off x="4846320" y="3017520"/>
            <a:ext cx="3657600" cy="365760"/>
          </a:xfrm>
          <a:prstGeom prst="rect">
            <a:avLst/>
          </a:prstGeom>
          <a:noFill/>
          <a:ln/>
        </p:spPr>
        <p:txBody>
          <a:bodyPr wrap="square" rtlCol="0" anchor="ct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badges issued</a:t>
            </a:r>
            <a:endParaRPr lang="en-US" sz="1600" dirty="0"/>
          </a:p>
        </p:txBody>
      </p:sp>
      <p:sp>
        <p:nvSpPr>
          <p:cNvPr id="14" name="Text 12"/>
          <p:cNvSpPr/>
          <p:nvPr/>
        </p:nvSpPr>
        <p:spPr>
          <a:xfrm>
            <a:off x="457200" y="4114800"/>
            <a:ext cx="8229600" cy="365760"/>
          </a:xfrm>
          <a:prstGeom prst="rect">
            <a:avLst/>
          </a:prstGeom>
          <a:noFill/>
          <a:ln/>
        </p:spPr>
        <p:txBody>
          <a:bodyPr wrap="square" rtlCol="0" anchor="ctr"/>
          <a:lstStyle/>
          <a:p>
            <a:pPr marL="0" indent="0" algn="ctr">
              <a:buNone/>
            </a:pPr>
            <a:r>
              <a:rPr lang="en-US" sz="1800" b="1" dirty="0">
                <a:solidFill>
                  <a:srgbClr val="000000"/>
                </a:solidFill>
                <a:latin typeface="Times New Roman" pitchFamily="34" charset="0"/>
                <a:ea typeface="Times New Roman" pitchFamily="34" charset="-122"/>
                <a:cs typeface="Times New Roman" pitchFamily="34" charset="-120"/>
              </a:rPr>
              <a:t>Total: 147 badges (14% of all credentials)</a:t>
            </a:r>
            <a:endParaRPr lang="en-US" sz="1800" dirty="0"/>
          </a:p>
        </p:txBody>
      </p:sp>
      <p:sp>
        <p:nvSpPr>
          <p:cNvPr id="15" name="Shape 13"/>
          <p:cNvSpPr/>
          <p:nvPr/>
        </p:nvSpPr>
        <p:spPr>
          <a:xfrm>
            <a:off x="914400" y="4572000"/>
            <a:ext cx="7315200" cy="411480"/>
          </a:xfrm>
          <a:prstGeom prst="rect">
            <a:avLst/>
          </a:prstGeom>
          <a:solidFill>
            <a:srgbClr val="F5F5F5"/>
          </a:solidFill>
          <a:ln/>
        </p:spPr>
        <p:txBody>
          <a:bodyPr/>
          <a:lstStyle/>
          <a:p>
            <a:endParaRPr lang="en-US"/>
          </a:p>
        </p:txBody>
      </p:sp>
      <p:sp>
        <p:nvSpPr>
          <p:cNvPr id="16" name="Text 14"/>
          <p:cNvSpPr/>
          <p:nvPr/>
        </p:nvSpPr>
        <p:spPr>
          <a:xfrm>
            <a:off x="914400" y="4572000"/>
            <a:ext cx="7315200" cy="411480"/>
          </a:xfrm>
          <a:prstGeom prst="rect">
            <a:avLst/>
          </a:prstGeom>
          <a:noFill/>
          <a:ln/>
        </p:spPr>
        <p:txBody>
          <a:bodyPr wrap="square" rtlCol="0" anchor="ctr"/>
          <a:lstStyle/>
          <a:p>
            <a:pPr marL="0" indent="0" algn="ctr">
              <a:buNone/>
            </a:pPr>
            <a:r>
              <a:rPr lang="en-US" sz="1300" i="1" dirty="0">
                <a:solidFill>
                  <a:srgbClr val="333333"/>
                </a:solidFill>
                <a:latin typeface="Times New Roman" pitchFamily="34" charset="0"/>
                <a:ea typeface="Times New Roman" pitchFamily="34" charset="-122"/>
                <a:cs typeface="Times New Roman" pitchFamily="34" charset="-120"/>
              </a:rPr>
              <a:t>Transferable credentials valued in healthcare, manufacturing, logistics, finance, and government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F660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Recognizing Instructional Excellence</a:t>
            </a:r>
            <a:endParaRPr lang="en-US" sz="3200" dirty="0"/>
          </a:p>
        </p:txBody>
      </p:sp>
      <p:sp>
        <p:nvSpPr>
          <p:cNvPr id="4" name="Shape 2"/>
          <p:cNvSpPr/>
          <p:nvPr/>
        </p:nvSpPr>
        <p:spPr>
          <a:xfrm>
            <a:off x="640080" y="1280160"/>
            <a:ext cx="640080" cy="640080"/>
          </a:xfrm>
          <a:prstGeom prst="ellipse">
            <a:avLst/>
          </a:prstGeom>
          <a:solidFill>
            <a:srgbClr val="FF6600"/>
          </a:solidFill>
          <a:ln/>
        </p:spPr>
        <p:txBody>
          <a:bodyPr/>
          <a:lstStyle/>
          <a:p>
            <a:endParaRPr lang="en-US"/>
          </a:p>
        </p:txBody>
      </p:sp>
      <p:sp>
        <p:nvSpPr>
          <p:cNvPr id="5" name="Text 3"/>
          <p:cNvSpPr/>
          <p:nvPr/>
        </p:nvSpPr>
        <p:spPr>
          <a:xfrm>
            <a:off x="640080" y="1280160"/>
            <a:ext cx="640080" cy="640080"/>
          </a:xfrm>
          <a:prstGeom prst="rect">
            <a:avLst/>
          </a:prstGeom>
          <a:noFill/>
          <a:ln/>
        </p:spPr>
        <p:txBody>
          <a:bodyPr wrap="square"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FD</a:t>
            </a:r>
            <a:endParaRPr lang="en-US" sz="1400" dirty="0"/>
          </a:p>
        </p:txBody>
      </p:sp>
      <p:sp>
        <p:nvSpPr>
          <p:cNvPr id="6" name="Text 4"/>
          <p:cNvSpPr/>
          <p:nvPr/>
        </p:nvSpPr>
        <p:spPr>
          <a:xfrm>
            <a:off x="1463040" y="1371600"/>
            <a:ext cx="2743200" cy="457200"/>
          </a:xfrm>
          <a:prstGeom prst="rect">
            <a:avLst/>
          </a:prstGeom>
          <a:noFill/>
          <a:ln/>
        </p:spPr>
        <p:txBody>
          <a:bodyPr wrap="square" rtlCol="0" anchor="ctr"/>
          <a:lstStyle/>
          <a:p>
            <a:pPr marL="0" indent="0">
              <a:buNone/>
            </a:pPr>
            <a:r>
              <a:rPr lang="en-US" sz="2000" b="1" dirty="0">
                <a:solidFill>
                  <a:srgbClr val="FF6600"/>
                </a:solidFill>
                <a:latin typeface="Times New Roman" pitchFamily="34" charset="0"/>
                <a:ea typeface="Times New Roman" pitchFamily="34" charset="-122"/>
                <a:cs typeface="Times New Roman" pitchFamily="34" charset="-120"/>
              </a:rPr>
              <a:t>Faculty Development</a:t>
            </a:r>
            <a:endParaRPr lang="en-US" sz="2000" dirty="0"/>
          </a:p>
        </p:txBody>
      </p:sp>
      <p:sp>
        <p:nvSpPr>
          <p:cNvPr id="7" name="Shape 5"/>
          <p:cNvSpPr/>
          <p:nvPr/>
        </p:nvSpPr>
        <p:spPr>
          <a:xfrm>
            <a:off x="640080" y="2103120"/>
            <a:ext cx="5303520" cy="1097280"/>
          </a:xfrm>
          <a:prstGeom prst="rect">
            <a:avLst/>
          </a:prstGeom>
          <a:solidFill>
            <a:srgbClr val="E0F2F1"/>
          </a:solidFill>
          <a:ln/>
        </p:spPr>
        <p:txBody>
          <a:bodyPr/>
          <a:lstStyle/>
          <a:p>
            <a:endParaRPr lang="en-US"/>
          </a:p>
        </p:txBody>
      </p:sp>
      <p:sp>
        <p:nvSpPr>
          <p:cNvPr id="8" name="Text 6"/>
          <p:cNvSpPr/>
          <p:nvPr/>
        </p:nvSpPr>
        <p:spPr>
          <a:xfrm>
            <a:off x="822960" y="2194560"/>
            <a:ext cx="4114800" cy="365760"/>
          </a:xfrm>
          <a:prstGeom prst="rect">
            <a:avLst/>
          </a:prstGeom>
          <a:noFill/>
          <a:ln/>
        </p:spPr>
        <p:txBody>
          <a:bodyPr wrap="square" rtlCol="0" anchor="ctr"/>
          <a:lstStyle/>
          <a:p>
            <a:pPr marL="0" indent="0">
              <a:buNone/>
            </a:pPr>
            <a:r>
              <a:rPr lang="en-US" sz="1500" b="1" dirty="0">
                <a:solidFill>
                  <a:srgbClr val="008080"/>
                </a:solidFill>
                <a:latin typeface="Times New Roman" pitchFamily="34" charset="0"/>
                <a:ea typeface="Times New Roman" pitchFamily="34" charset="-122"/>
                <a:cs typeface="Times New Roman" pitchFamily="34" charset="-120"/>
              </a:rPr>
              <a:t>FTCC Certified High-Quality Course Badge</a:t>
            </a:r>
            <a:endParaRPr lang="en-US" sz="1500" dirty="0"/>
          </a:p>
        </p:txBody>
      </p:sp>
      <p:sp>
        <p:nvSpPr>
          <p:cNvPr id="9" name="Text 7"/>
          <p:cNvSpPr/>
          <p:nvPr/>
        </p:nvSpPr>
        <p:spPr>
          <a:xfrm>
            <a:off x="822960" y="2514600"/>
            <a:ext cx="4114800" cy="320040"/>
          </a:xfrm>
          <a:prstGeom prst="rect">
            <a:avLst/>
          </a:prstGeom>
          <a:noFill/>
          <a:ln/>
        </p:spPr>
        <p:txBody>
          <a:bodyPr wrap="square" rtlCol="0" anchor="ctr"/>
          <a:lstStyle/>
          <a:p>
            <a:pPr marL="0" indent="0">
              <a:buNone/>
            </a:pPr>
            <a:r>
              <a:rPr lang="en-US" sz="1300" dirty="0">
                <a:solidFill>
                  <a:srgbClr val="333333"/>
                </a:solidFill>
                <a:latin typeface="Times New Roman" pitchFamily="34" charset="0"/>
                <a:ea typeface="Times New Roman" pitchFamily="34" charset="-122"/>
                <a:cs typeface="Times New Roman" pitchFamily="34" charset="-120"/>
              </a:rPr>
              <a:t>(1 course)</a:t>
            </a:r>
            <a:endParaRPr lang="en-US" sz="1300" dirty="0"/>
          </a:p>
        </p:txBody>
      </p:sp>
      <p:sp>
        <p:nvSpPr>
          <p:cNvPr id="10" name="Text 8"/>
          <p:cNvSpPr/>
          <p:nvPr/>
        </p:nvSpPr>
        <p:spPr>
          <a:xfrm>
            <a:off x="5029200" y="2194560"/>
            <a:ext cx="822960" cy="914400"/>
          </a:xfrm>
          <a:prstGeom prst="rect">
            <a:avLst/>
          </a:prstGeom>
          <a:noFill/>
          <a:ln/>
        </p:spPr>
        <p:txBody>
          <a:bodyPr wrap="square" rtlCol="0" anchor="ctr"/>
          <a:lstStyle/>
          <a:p>
            <a:pPr marL="0" indent="0" algn="r">
              <a:buNone/>
            </a:pPr>
            <a:r>
              <a:rPr lang="en-US" sz="3600" b="1" dirty="0">
                <a:solidFill>
                  <a:srgbClr val="FF6600"/>
                </a:solidFill>
                <a:latin typeface="Times New Roman" pitchFamily="34" charset="0"/>
                <a:ea typeface="Times New Roman" pitchFamily="34" charset="-122"/>
                <a:cs typeface="Times New Roman" pitchFamily="34" charset="-120"/>
              </a:rPr>
              <a:t>21</a:t>
            </a:r>
            <a:endParaRPr lang="en-US" sz="3600" dirty="0"/>
          </a:p>
        </p:txBody>
      </p:sp>
      <p:sp>
        <p:nvSpPr>
          <p:cNvPr id="11" name="Shape 9"/>
          <p:cNvSpPr/>
          <p:nvPr/>
        </p:nvSpPr>
        <p:spPr>
          <a:xfrm>
            <a:off x="640080" y="3291840"/>
            <a:ext cx="5303520" cy="1097280"/>
          </a:xfrm>
          <a:prstGeom prst="rect">
            <a:avLst/>
          </a:prstGeom>
          <a:solidFill>
            <a:srgbClr val="FFF3E0"/>
          </a:solidFill>
          <a:ln/>
        </p:spPr>
        <p:txBody>
          <a:bodyPr/>
          <a:lstStyle/>
          <a:p>
            <a:endParaRPr lang="en-US"/>
          </a:p>
        </p:txBody>
      </p:sp>
      <p:sp>
        <p:nvSpPr>
          <p:cNvPr id="12" name="Text 10"/>
          <p:cNvSpPr/>
          <p:nvPr/>
        </p:nvSpPr>
        <p:spPr>
          <a:xfrm>
            <a:off x="822960" y="3383280"/>
            <a:ext cx="4114800" cy="365760"/>
          </a:xfrm>
          <a:prstGeom prst="rect">
            <a:avLst/>
          </a:prstGeom>
          <a:noFill/>
          <a:ln/>
        </p:spPr>
        <p:txBody>
          <a:bodyPr wrap="square" rtlCol="0" anchor="ctr"/>
          <a:lstStyle/>
          <a:p>
            <a:pPr marL="0" indent="0">
              <a:buNone/>
            </a:pPr>
            <a:r>
              <a:rPr lang="en-US" sz="1500" b="1" dirty="0">
                <a:solidFill>
                  <a:srgbClr val="FF6600"/>
                </a:solidFill>
                <a:latin typeface="Times New Roman" pitchFamily="34" charset="0"/>
                <a:ea typeface="Times New Roman" pitchFamily="34" charset="-122"/>
                <a:cs typeface="Times New Roman" pitchFamily="34" charset="-120"/>
              </a:rPr>
              <a:t>FTCC Certified High-Quality Course Badge</a:t>
            </a:r>
            <a:endParaRPr lang="en-US" sz="1500" dirty="0"/>
          </a:p>
        </p:txBody>
      </p:sp>
      <p:sp>
        <p:nvSpPr>
          <p:cNvPr id="13" name="Text 11"/>
          <p:cNvSpPr/>
          <p:nvPr/>
        </p:nvSpPr>
        <p:spPr>
          <a:xfrm>
            <a:off x="822960" y="3703320"/>
            <a:ext cx="4114800" cy="320040"/>
          </a:xfrm>
          <a:prstGeom prst="rect">
            <a:avLst/>
          </a:prstGeom>
          <a:noFill/>
          <a:ln/>
        </p:spPr>
        <p:txBody>
          <a:bodyPr wrap="square" rtlCol="0" anchor="ctr"/>
          <a:lstStyle/>
          <a:p>
            <a:pPr marL="0" indent="0">
              <a:buNone/>
            </a:pPr>
            <a:r>
              <a:rPr lang="en-US" sz="1300" dirty="0">
                <a:solidFill>
                  <a:srgbClr val="333333"/>
                </a:solidFill>
                <a:latin typeface="Times New Roman" pitchFamily="34" charset="0"/>
                <a:ea typeface="Times New Roman" pitchFamily="34" charset="-122"/>
                <a:cs typeface="Times New Roman" pitchFamily="34" charset="-120"/>
              </a:rPr>
              <a:t>(2-6 courses)</a:t>
            </a:r>
            <a:endParaRPr lang="en-US" sz="1300" dirty="0"/>
          </a:p>
        </p:txBody>
      </p:sp>
      <p:sp>
        <p:nvSpPr>
          <p:cNvPr id="14" name="Text 12"/>
          <p:cNvSpPr/>
          <p:nvPr/>
        </p:nvSpPr>
        <p:spPr>
          <a:xfrm>
            <a:off x="5029200" y="3383280"/>
            <a:ext cx="822960" cy="914400"/>
          </a:xfrm>
          <a:prstGeom prst="rect">
            <a:avLst/>
          </a:prstGeom>
          <a:noFill/>
          <a:ln/>
        </p:spPr>
        <p:txBody>
          <a:bodyPr wrap="square" rtlCol="0" anchor="ctr"/>
          <a:lstStyle/>
          <a:p>
            <a:pPr marL="0" indent="0" algn="r">
              <a:buNone/>
            </a:pPr>
            <a:r>
              <a:rPr lang="en-US" sz="3600" b="1" dirty="0">
                <a:solidFill>
                  <a:srgbClr val="FF6600"/>
                </a:solidFill>
                <a:latin typeface="Times New Roman" pitchFamily="34" charset="0"/>
                <a:ea typeface="Times New Roman" pitchFamily="34" charset="-122"/>
                <a:cs typeface="Times New Roman" pitchFamily="34" charset="-120"/>
              </a:rPr>
              <a:t>11</a:t>
            </a:r>
            <a:endParaRPr lang="en-US" sz="3600" dirty="0"/>
          </a:p>
        </p:txBody>
      </p:sp>
      <p:sp>
        <p:nvSpPr>
          <p:cNvPr id="15" name="Shape 13"/>
          <p:cNvSpPr/>
          <p:nvPr/>
        </p:nvSpPr>
        <p:spPr>
          <a:xfrm>
            <a:off x="6400800" y="2103120"/>
            <a:ext cx="2286000" cy="2286000"/>
          </a:xfrm>
          <a:prstGeom prst="rect">
            <a:avLst/>
          </a:prstGeom>
          <a:solidFill>
            <a:srgbClr val="F5F5F5"/>
          </a:solidFill>
          <a:ln/>
        </p:spPr>
        <p:txBody>
          <a:bodyPr/>
          <a:lstStyle/>
          <a:p>
            <a:endParaRPr lang="en-US"/>
          </a:p>
        </p:txBody>
      </p:sp>
      <p:sp>
        <p:nvSpPr>
          <p:cNvPr id="16" name="Text 14"/>
          <p:cNvSpPr/>
          <p:nvPr/>
        </p:nvSpPr>
        <p:spPr>
          <a:xfrm>
            <a:off x="6400800" y="2286000"/>
            <a:ext cx="2286000" cy="914400"/>
          </a:xfrm>
          <a:prstGeom prst="rect">
            <a:avLst/>
          </a:prstGeom>
          <a:noFill/>
          <a:ln/>
        </p:spPr>
        <p:txBody>
          <a:bodyPr wrap="square" rtlCol="0" anchor="ctr"/>
          <a:lstStyle/>
          <a:p>
            <a:pPr marL="0" indent="0" algn="ctr">
              <a:buNone/>
            </a:pPr>
            <a:r>
              <a:rPr lang="en-US" sz="5200" b="1" dirty="0">
                <a:solidFill>
                  <a:srgbClr val="008080"/>
                </a:solidFill>
                <a:latin typeface="Times New Roman" pitchFamily="34" charset="0"/>
                <a:ea typeface="Times New Roman" pitchFamily="34" charset="-122"/>
                <a:cs typeface="Times New Roman" pitchFamily="34" charset="-120"/>
              </a:rPr>
              <a:t>32</a:t>
            </a:r>
            <a:endParaRPr lang="en-US" sz="5200" dirty="0"/>
          </a:p>
        </p:txBody>
      </p:sp>
      <p:sp>
        <p:nvSpPr>
          <p:cNvPr id="17" name="Text 15"/>
          <p:cNvSpPr/>
          <p:nvPr/>
        </p:nvSpPr>
        <p:spPr>
          <a:xfrm>
            <a:off x="6400800" y="3108960"/>
            <a:ext cx="2286000" cy="640080"/>
          </a:xfrm>
          <a:prstGeom prst="rect">
            <a:avLst/>
          </a:prstGeom>
          <a:noFill/>
          <a:ln/>
        </p:spPr>
        <p:txBody>
          <a:bodyPr wrap="square" rtlCol="0" anchor="ct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Total Badges</a:t>
            </a:r>
            <a:endParaRPr lang="en-US" sz="1400" dirty="0"/>
          </a:p>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for faculty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808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FFFFFF"/>
                </a:solidFill>
                <a:latin typeface="Times New Roman" pitchFamily="34" charset="0"/>
                <a:ea typeface="Times New Roman" pitchFamily="34" charset="-122"/>
                <a:cs typeface="Times New Roman" pitchFamily="34" charset="-120"/>
              </a:rPr>
              <a:t>Employers Are Demanding Skills-Based Credentials</a:t>
            </a:r>
            <a:endParaRPr lang="en-US" sz="2800" dirty="0"/>
          </a:p>
        </p:txBody>
      </p:sp>
      <p:sp>
        <p:nvSpPr>
          <p:cNvPr id="4" name="Shape 2"/>
          <p:cNvSpPr/>
          <p:nvPr/>
        </p:nvSpPr>
        <p:spPr>
          <a:xfrm>
            <a:off x="457200" y="1280160"/>
            <a:ext cx="3886200" cy="1463040"/>
          </a:xfrm>
          <a:prstGeom prst="rect">
            <a:avLst/>
          </a:prstGeom>
          <a:solidFill>
            <a:srgbClr val="FFF3E0"/>
          </a:solidFill>
          <a:ln/>
        </p:spPr>
        <p:txBody>
          <a:bodyPr/>
          <a:lstStyle/>
          <a:p>
            <a:endParaRPr lang="en-US"/>
          </a:p>
        </p:txBody>
      </p:sp>
      <p:sp>
        <p:nvSpPr>
          <p:cNvPr id="5" name="Text 3"/>
          <p:cNvSpPr/>
          <p:nvPr/>
        </p:nvSpPr>
        <p:spPr>
          <a:xfrm>
            <a:off x="640080" y="1417320"/>
            <a:ext cx="1371600" cy="731520"/>
          </a:xfrm>
          <a:prstGeom prst="rect">
            <a:avLst/>
          </a:prstGeom>
          <a:noFill/>
          <a:ln/>
        </p:spPr>
        <p:txBody>
          <a:bodyPr wrap="square" rtlCol="0" anchor="ctr"/>
          <a:lstStyle/>
          <a:p>
            <a:pPr marL="0" indent="0">
              <a:buNone/>
            </a:pPr>
            <a:r>
              <a:rPr lang="en-US" sz="4000" b="1" dirty="0">
                <a:solidFill>
                  <a:srgbClr val="FF6600"/>
                </a:solidFill>
                <a:latin typeface="Times New Roman" pitchFamily="34" charset="0"/>
                <a:ea typeface="Times New Roman" pitchFamily="34" charset="-122"/>
                <a:cs typeface="Times New Roman" pitchFamily="34" charset="-120"/>
              </a:rPr>
              <a:t>96%</a:t>
            </a:r>
            <a:endParaRPr lang="en-US" sz="4000" dirty="0"/>
          </a:p>
        </p:txBody>
      </p:sp>
      <p:sp>
        <p:nvSpPr>
          <p:cNvPr id="6" name="Text 4"/>
          <p:cNvSpPr/>
          <p:nvPr/>
        </p:nvSpPr>
        <p:spPr>
          <a:xfrm>
            <a:off x="2011680" y="1463040"/>
            <a:ext cx="2194560" cy="1188720"/>
          </a:xfrm>
          <a:prstGeom prst="rect">
            <a:avLst/>
          </a:prstGeom>
          <a:noFill/>
          <a:ln/>
        </p:spPr>
        <p:txBody>
          <a:bodyPr wrap="square" rtlCol="0" anchor="ctr"/>
          <a:lstStyle/>
          <a:p>
            <a:pPr marL="0" indent="0">
              <a:buNone/>
            </a:pPr>
            <a:r>
              <a:rPr lang="en-US" sz="1300" dirty="0">
                <a:solidFill>
                  <a:srgbClr val="000000"/>
                </a:solidFill>
                <a:latin typeface="Times New Roman" pitchFamily="34" charset="0"/>
                <a:ea typeface="Times New Roman" pitchFamily="34" charset="-122"/>
                <a:cs typeface="Times New Roman" pitchFamily="34" charset="-120"/>
              </a:rPr>
              <a:t>of employers believe microcredentials strengthen job applications</a:t>
            </a:r>
            <a:endParaRPr lang="en-US" sz="1300" dirty="0"/>
          </a:p>
        </p:txBody>
      </p:sp>
      <p:sp>
        <p:nvSpPr>
          <p:cNvPr id="7" name="Shape 5"/>
          <p:cNvSpPr/>
          <p:nvPr/>
        </p:nvSpPr>
        <p:spPr>
          <a:xfrm>
            <a:off x="4800600" y="1280160"/>
            <a:ext cx="3886200" cy="1463040"/>
          </a:xfrm>
          <a:prstGeom prst="rect">
            <a:avLst/>
          </a:prstGeom>
          <a:solidFill>
            <a:srgbClr val="E0F2F1"/>
          </a:solidFill>
          <a:ln/>
        </p:spPr>
        <p:txBody>
          <a:bodyPr/>
          <a:lstStyle/>
          <a:p>
            <a:endParaRPr lang="en-US"/>
          </a:p>
        </p:txBody>
      </p:sp>
      <p:sp>
        <p:nvSpPr>
          <p:cNvPr id="8" name="Text 6"/>
          <p:cNvSpPr/>
          <p:nvPr/>
        </p:nvSpPr>
        <p:spPr>
          <a:xfrm>
            <a:off x="4983480" y="1417320"/>
            <a:ext cx="1371600" cy="731520"/>
          </a:xfrm>
          <a:prstGeom prst="rect">
            <a:avLst/>
          </a:prstGeom>
          <a:noFill/>
          <a:ln/>
        </p:spPr>
        <p:txBody>
          <a:bodyPr wrap="square" rtlCol="0" anchor="ctr"/>
          <a:lstStyle/>
          <a:p>
            <a:pPr marL="0" indent="0">
              <a:buNone/>
            </a:pPr>
            <a:r>
              <a:rPr lang="en-US" sz="4000" b="1" dirty="0">
                <a:solidFill>
                  <a:srgbClr val="FF6600"/>
                </a:solidFill>
                <a:latin typeface="Times New Roman" pitchFamily="34" charset="0"/>
                <a:ea typeface="Times New Roman" pitchFamily="34" charset="-122"/>
                <a:cs typeface="Times New Roman" pitchFamily="34" charset="-120"/>
              </a:rPr>
              <a:t>90%</a:t>
            </a:r>
            <a:endParaRPr lang="en-US" sz="4000" dirty="0"/>
          </a:p>
        </p:txBody>
      </p:sp>
      <p:sp>
        <p:nvSpPr>
          <p:cNvPr id="9" name="Text 7"/>
          <p:cNvSpPr/>
          <p:nvPr/>
        </p:nvSpPr>
        <p:spPr>
          <a:xfrm>
            <a:off x="6355080" y="1463040"/>
            <a:ext cx="2194560" cy="1188720"/>
          </a:xfrm>
          <a:prstGeom prst="rect">
            <a:avLst/>
          </a:prstGeom>
          <a:noFill/>
          <a:ln/>
        </p:spPr>
        <p:txBody>
          <a:bodyPr wrap="square" rtlCol="0" anchor="ctr"/>
          <a:lstStyle/>
          <a:p>
            <a:pPr marL="0" indent="0">
              <a:buNone/>
            </a:pPr>
            <a:r>
              <a:rPr lang="en-US" sz="1300" dirty="0">
                <a:solidFill>
                  <a:srgbClr val="000000"/>
                </a:solidFill>
                <a:latin typeface="Times New Roman" pitchFamily="34" charset="0"/>
                <a:ea typeface="Times New Roman" pitchFamily="34" charset="-122"/>
                <a:cs typeface="Times New Roman" pitchFamily="34" charset="-120"/>
              </a:rPr>
              <a:t>willing to offer higher starting salaries to credential holders</a:t>
            </a:r>
            <a:endParaRPr lang="en-US" sz="1300" dirty="0"/>
          </a:p>
        </p:txBody>
      </p:sp>
      <p:sp>
        <p:nvSpPr>
          <p:cNvPr id="10" name="Shape 8"/>
          <p:cNvSpPr/>
          <p:nvPr/>
        </p:nvSpPr>
        <p:spPr>
          <a:xfrm>
            <a:off x="457200" y="2926080"/>
            <a:ext cx="3886200" cy="1463040"/>
          </a:xfrm>
          <a:prstGeom prst="rect">
            <a:avLst/>
          </a:prstGeom>
          <a:solidFill>
            <a:srgbClr val="FFF3E0"/>
          </a:solidFill>
          <a:ln/>
        </p:spPr>
        <p:txBody>
          <a:bodyPr/>
          <a:lstStyle/>
          <a:p>
            <a:endParaRPr lang="en-US"/>
          </a:p>
        </p:txBody>
      </p:sp>
      <p:sp>
        <p:nvSpPr>
          <p:cNvPr id="11" name="Text 9"/>
          <p:cNvSpPr/>
          <p:nvPr/>
        </p:nvSpPr>
        <p:spPr>
          <a:xfrm>
            <a:off x="640080" y="3063240"/>
            <a:ext cx="1371600" cy="731520"/>
          </a:xfrm>
          <a:prstGeom prst="rect">
            <a:avLst/>
          </a:prstGeom>
          <a:noFill/>
          <a:ln/>
        </p:spPr>
        <p:txBody>
          <a:bodyPr wrap="square" rtlCol="0" anchor="ctr"/>
          <a:lstStyle/>
          <a:p>
            <a:pPr marL="0" indent="0">
              <a:buNone/>
            </a:pPr>
            <a:r>
              <a:rPr lang="en-US" sz="4000" b="1" dirty="0">
                <a:solidFill>
                  <a:srgbClr val="FF6600"/>
                </a:solidFill>
                <a:latin typeface="Times New Roman" pitchFamily="34" charset="0"/>
                <a:ea typeface="Times New Roman" pitchFamily="34" charset="-122"/>
                <a:cs typeface="Times New Roman" pitchFamily="34" charset="-120"/>
              </a:rPr>
              <a:t>97%</a:t>
            </a:r>
            <a:endParaRPr lang="en-US" sz="4000" dirty="0"/>
          </a:p>
        </p:txBody>
      </p:sp>
      <p:sp>
        <p:nvSpPr>
          <p:cNvPr id="12" name="Text 10"/>
          <p:cNvSpPr/>
          <p:nvPr/>
        </p:nvSpPr>
        <p:spPr>
          <a:xfrm>
            <a:off x="2011680" y="3108960"/>
            <a:ext cx="2194560" cy="1188720"/>
          </a:xfrm>
          <a:prstGeom prst="rect">
            <a:avLst/>
          </a:prstGeom>
          <a:noFill/>
          <a:ln/>
        </p:spPr>
        <p:txBody>
          <a:bodyPr wrap="square" rtlCol="0" anchor="ctr"/>
          <a:lstStyle/>
          <a:p>
            <a:pPr marL="0" indent="0">
              <a:buNone/>
            </a:pPr>
            <a:r>
              <a:rPr lang="en-US" sz="1300" dirty="0">
                <a:solidFill>
                  <a:srgbClr val="000000"/>
                </a:solidFill>
                <a:latin typeface="Times New Roman" pitchFamily="34" charset="0"/>
                <a:ea typeface="Times New Roman" pitchFamily="34" charset="-122"/>
                <a:cs typeface="Times New Roman" pitchFamily="34" charset="-120"/>
              </a:rPr>
              <a:t>are using or considering skills-based hiring practices</a:t>
            </a:r>
            <a:endParaRPr lang="en-US" sz="1300" dirty="0"/>
          </a:p>
        </p:txBody>
      </p:sp>
      <p:sp>
        <p:nvSpPr>
          <p:cNvPr id="13" name="Shape 11"/>
          <p:cNvSpPr/>
          <p:nvPr/>
        </p:nvSpPr>
        <p:spPr>
          <a:xfrm>
            <a:off x="4800600" y="2926080"/>
            <a:ext cx="3886200" cy="1463040"/>
          </a:xfrm>
          <a:prstGeom prst="rect">
            <a:avLst/>
          </a:prstGeom>
          <a:solidFill>
            <a:srgbClr val="E0F2F1"/>
          </a:solidFill>
          <a:ln/>
        </p:spPr>
        <p:txBody>
          <a:bodyPr/>
          <a:lstStyle/>
          <a:p>
            <a:endParaRPr lang="en-US"/>
          </a:p>
        </p:txBody>
      </p:sp>
      <p:sp>
        <p:nvSpPr>
          <p:cNvPr id="14" name="Text 12"/>
          <p:cNvSpPr/>
          <p:nvPr/>
        </p:nvSpPr>
        <p:spPr>
          <a:xfrm>
            <a:off x="4983480" y="3063240"/>
            <a:ext cx="1371600" cy="731520"/>
          </a:xfrm>
          <a:prstGeom prst="rect">
            <a:avLst/>
          </a:prstGeom>
          <a:noFill/>
          <a:ln/>
        </p:spPr>
        <p:txBody>
          <a:bodyPr wrap="square" rtlCol="0" anchor="ctr"/>
          <a:lstStyle/>
          <a:p>
            <a:pPr marL="0" indent="0">
              <a:buNone/>
            </a:pPr>
            <a:r>
              <a:rPr lang="en-US" sz="4000" b="1" dirty="0">
                <a:solidFill>
                  <a:srgbClr val="FF6600"/>
                </a:solidFill>
                <a:latin typeface="Times New Roman" pitchFamily="34" charset="0"/>
                <a:ea typeface="Times New Roman" pitchFamily="34" charset="-122"/>
                <a:cs typeface="Times New Roman" pitchFamily="34" charset="-120"/>
              </a:rPr>
              <a:t>72%</a:t>
            </a:r>
            <a:endParaRPr lang="en-US" sz="4000" dirty="0"/>
          </a:p>
        </p:txBody>
      </p:sp>
      <p:sp>
        <p:nvSpPr>
          <p:cNvPr id="15" name="Text 13"/>
          <p:cNvSpPr/>
          <p:nvPr/>
        </p:nvSpPr>
        <p:spPr>
          <a:xfrm>
            <a:off x="6355080" y="3108960"/>
            <a:ext cx="2194560" cy="1188720"/>
          </a:xfrm>
          <a:prstGeom prst="rect">
            <a:avLst/>
          </a:prstGeom>
          <a:noFill/>
          <a:ln/>
        </p:spPr>
        <p:txBody>
          <a:bodyPr wrap="square" rtlCol="0" anchor="ctr"/>
          <a:lstStyle/>
          <a:p>
            <a:pPr marL="0" indent="0">
              <a:buNone/>
            </a:pPr>
            <a:r>
              <a:rPr lang="en-US" sz="1300" dirty="0">
                <a:solidFill>
                  <a:srgbClr val="000000"/>
                </a:solidFill>
                <a:latin typeface="Times New Roman" pitchFamily="34" charset="0"/>
                <a:ea typeface="Times New Roman" pitchFamily="34" charset="-122"/>
                <a:cs typeface="Times New Roman" pitchFamily="34" charset="-120"/>
              </a:rPr>
              <a:t>more likely to hire candidates with professional certificates</a:t>
            </a:r>
            <a:endParaRPr lang="en-US" sz="1300" dirty="0"/>
          </a:p>
        </p:txBody>
      </p:sp>
      <p:sp>
        <p:nvSpPr>
          <p:cNvPr id="16" name="Text 14"/>
          <p:cNvSpPr/>
          <p:nvPr/>
        </p:nvSpPr>
        <p:spPr>
          <a:xfrm>
            <a:off x="457200" y="4663440"/>
            <a:ext cx="8229600" cy="320040"/>
          </a:xfrm>
          <a:prstGeom prst="rect">
            <a:avLst/>
          </a:prstGeom>
          <a:noFill/>
          <a:ln/>
        </p:spPr>
        <p:txBody>
          <a:bodyPr wrap="square" rtlCol="0" anchor="ctr"/>
          <a:lstStyle/>
          <a:p>
            <a:pPr marL="0" indent="0" algn="ctr">
              <a:buNone/>
            </a:pPr>
            <a:r>
              <a:rPr lang="en-US" sz="1100" i="1" dirty="0">
                <a:solidFill>
                  <a:srgbClr val="333333"/>
                </a:solidFill>
                <a:latin typeface="Times New Roman" pitchFamily="34" charset="0"/>
                <a:ea typeface="Times New Roman" pitchFamily="34" charset="-122"/>
                <a:cs typeface="Times New Roman" pitchFamily="34" charset="-120"/>
              </a:rPr>
              <a:t>Sources: Lumina Foundation 2025, AACSB Insights 2024, Google/Coursera Employer Survey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F660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Institutions Are Responding</a:t>
            </a:r>
            <a:endParaRPr lang="en-US" sz="3200" dirty="0"/>
          </a:p>
        </p:txBody>
      </p:sp>
      <p:sp>
        <p:nvSpPr>
          <p:cNvPr id="4" name="Shape 2"/>
          <p:cNvSpPr/>
          <p:nvPr/>
        </p:nvSpPr>
        <p:spPr>
          <a:xfrm>
            <a:off x="457200" y="1280160"/>
            <a:ext cx="8229600" cy="685800"/>
          </a:xfrm>
          <a:prstGeom prst="rect">
            <a:avLst/>
          </a:prstGeom>
          <a:solidFill>
            <a:srgbClr val="E0F2F1"/>
          </a:solidFill>
          <a:ln/>
        </p:spPr>
        <p:txBody>
          <a:bodyPr/>
          <a:lstStyle/>
          <a:p>
            <a:endParaRPr lang="en-US"/>
          </a:p>
        </p:txBody>
      </p:sp>
      <p:sp>
        <p:nvSpPr>
          <p:cNvPr id="5" name="Text 3"/>
          <p:cNvSpPr/>
          <p:nvPr/>
        </p:nvSpPr>
        <p:spPr>
          <a:xfrm>
            <a:off x="640080" y="1280160"/>
            <a:ext cx="1371600" cy="685800"/>
          </a:xfrm>
          <a:prstGeom prst="rect">
            <a:avLst/>
          </a:prstGeom>
          <a:noFill/>
          <a:ln/>
        </p:spPr>
        <p:txBody>
          <a:bodyPr wrap="square" rtlCol="0" anchor="ctr"/>
          <a:lstStyle/>
          <a:p>
            <a:pPr marL="0" indent="0">
              <a:buNone/>
            </a:pPr>
            <a:r>
              <a:rPr lang="en-US" sz="2800" b="1" dirty="0">
                <a:solidFill>
                  <a:srgbClr val="FF6600"/>
                </a:solidFill>
                <a:latin typeface="Times New Roman" pitchFamily="34" charset="0"/>
                <a:ea typeface="Times New Roman" pitchFamily="34" charset="-122"/>
                <a:cs typeface="Times New Roman" pitchFamily="34" charset="-120"/>
              </a:rPr>
              <a:t>50+</a:t>
            </a:r>
            <a:endParaRPr lang="en-US" sz="2800" dirty="0"/>
          </a:p>
        </p:txBody>
      </p:sp>
      <p:sp>
        <p:nvSpPr>
          <p:cNvPr id="6" name="Text 4"/>
          <p:cNvSpPr/>
          <p:nvPr/>
        </p:nvSpPr>
        <p:spPr>
          <a:xfrm>
            <a:off x="2103120" y="1280160"/>
            <a:ext cx="6217920" cy="685800"/>
          </a:xfrm>
          <a:prstGeom prst="rect">
            <a:avLst/>
          </a:prstGeom>
          <a:noFill/>
          <a:ln/>
        </p:spPr>
        <p:txBody>
          <a:bodyPr wrap="square" rtlCol="0" anchor="ctr"/>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states have institutions offering microcredentials</a:t>
            </a:r>
            <a:endParaRPr lang="en-US" sz="1600" dirty="0"/>
          </a:p>
        </p:txBody>
      </p:sp>
      <p:sp>
        <p:nvSpPr>
          <p:cNvPr id="7" name="Shape 5"/>
          <p:cNvSpPr/>
          <p:nvPr/>
        </p:nvSpPr>
        <p:spPr>
          <a:xfrm>
            <a:off x="457200" y="2057400"/>
            <a:ext cx="8229600" cy="685800"/>
          </a:xfrm>
          <a:prstGeom prst="rect">
            <a:avLst/>
          </a:prstGeom>
          <a:solidFill>
            <a:srgbClr val="F5F5F5"/>
          </a:solidFill>
          <a:ln/>
        </p:spPr>
        <p:txBody>
          <a:bodyPr/>
          <a:lstStyle/>
          <a:p>
            <a:endParaRPr lang="en-US"/>
          </a:p>
        </p:txBody>
      </p:sp>
      <p:sp>
        <p:nvSpPr>
          <p:cNvPr id="8" name="Text 6"/>
          <p:cNvSpPr/>
          <p:nvPr/>
        </p:nvSpPr>
        <p:spPr>
          <a:xfrm>
            <a:off x="640080" y="2057400"/>
            <a:ext cx="1371600" cy="685800"/>
          </a:xfrm>
          <a:prstGeom prst="rect">
            <a:avLst/>
          </a:prstGeom>
          <a:noFill/>
          <a:ln/>
        </p:spPr>
        <p:txBody>
          <a:bodyPr wrap="square" rtlCol="0" anchor="ctr"/>
          <a:lstStyle/>
          <a:p>
            <a:pPr marL="0" indent="0">
              <a:buNone/>
            </a:pPr>
            <a:r>
              <a:rPr lang="en-US" sz="2800" b="1" dirty="0">
                <a:solidFill>
                  <a:srgbClr val="FF6600"/>
                </a:solidFill>
                <a:latin typeface="Times New Roman" pitchFamily="34" charset="0"/>
                <a:ea typeface="Times New Roman" pitchFamily="34" charset="-122"/>
                <a:cs typeface="Times New Roman" pitchFamily="34" charset="-120"/>
              </a:rPr>
              <a:t>51%</a:t>
            </a:r>
            <a:endParaRPr lang="en-US" sz="2800" dirty="0"/>
          </a:p>
        </p:txBody>
      </p:sp>
      <p:sp>
        <p:nvSpPr>
          <p:cNvPr id="9" name="Text 7"/>
          <p:cNvSpPr/>
          <p:nvPr/>
        </p:nvSpPr>
        <p:spPr>
          <a:xfrm>
            <a:off x="2103120" y="2057400"/>
            <a:ext cx="6217920" cy="685800"/>
          </a:xfrm>
          <a:prstGeom prst="rect">
            <a:avLst/>
          </a:prstGeom>
          <a:noFill/>
          <a:ln/>
        </p:spPr>
        <p:txBody>
          <a:bodyPr wrap="square" rtlCol="0" anchor="ctr"/>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of higher ed leaders have already integrated microcredentials</a:t>
            </a:r>
            <a:endParaRPr lang="en-US" sz="1600" dirty="0"/>
          </a:p>
        </p:txBody>
      </p:sp>
      <p:sp>
        <p:nvSpPr>
          <p:cNvPr id="10" name="Shape 8"/>
          <p:cNvSpPr/>
          <p:nvPr/>
        </p:nvSpPr>
        <p:spPr>
          <a:xfrm>
            <a:off x="457200" y="2834640"/>
            <a:ext cx="8229600" cy="685800"/>
          </a:xfrm>
          <a:prstGeom prst="rect">
            <a:avLst/>
          </a:prstGeom>
          <a:solidFill>
            <a:srgbClr val="E0F2F1"/>
          </a:solidFill>
          <a:ln/>
        </p:spPr>
        <p:txBody>
          <a:bodyPr/>
          <a:lstStyle/>
          <a:p>
            <a:endParaRPr lang="en-US"/>
          </a:p>
        </p:txBody>
      </p:sp>
      <p:sp>
        <p:nvSpPr>
          <p:cNvPr id="11" name="Text 9"/>
          <p:cNvSpPr/>
          <p:nvPr/>
        </p:nvSpPr>
        <p:spPr>
          <a:xfrm>
            <a:off x="640080" y="2834640"/>
            <a:ext cx="1371600" cy="685800"/>
          </a:xfrm>
          <a:prstGeom prst="rect">
            <a:avLst/>
          </a:prstGeom>
          <a:noFill/>
          <a:ln/>
        </p:spPr>
        <p:txBody>
          <a:bodyPr wrap="square" rtlCol="0" anchor="ctr"/>
          <a:lstStyle/>
          <a:p>
            <a:pPr marL="0" indent="0">
              <a:buNone/>
            </a:pPr>
            <a:r>
              <a:rPr lang="en-US" sz="2800" b="1" dirty="0">
                <a:solidFill>
                  <a:srgbClr val="FF6600"/>
                </a:solidFill>
                <a:latin typeface="Times New Roman" pitchFamily="34" charset="0"/>
                <a:ea typeface="Times New Roman" pitchFamily="34" charset="-122"/>
                <a:cs typeface="Times New Roman" pitchFamily="34" charset="-120"/>
              </a:rPr>
              <a:t>82%</a:t>
            </a:r>
            <a:endParaRPr lang="en-US" sz="2800" dirty="0"/>
          </a:p>
        </p:txBody>
      </p:sp>
      <p:sp>
        <p:nvSpPr>
          <p:cNvPr id="12" name="Text 10"/>
          <p:cNvSpPr/>
          <p:nvPr/>
        </p:nvSpPr>
        <p:spPr>
          <a:xfrm>
            <a:off x="2103120" y="2834640"/>
            <a:ext cx="6217920" cy="685800"/>
          </a:xfrm>
          <a:prstGeom prst="rect">
            <a:avLst/>
          </a:prstGeom>
          <a:noFill/>
          <a:ln/>
        </p:spPr>
        <p:txBody>
          <a:bodyPr wrap="square" rtlCol="0" anchor="ctr"/>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plan to offer microcredentials for academic credit within 5 years</a:t>
            </a:r>
            <a:endParaRPr lang="en-US" sz="1600" dirty="0"/>
          </a:p>
        </p:txBody>
      </p:sp>
      <p:sp>
        <p:nvSpPr>
          <p:cNvPr id="13" name="Shape 11"/>
          <p:cNvSpPr/>
          <p:nvPr/>
        </p:nvSpPr>
        <p:spPr>
          <a:xfrm>
            <a:off x="457200" y="3611880"/>
            <a:ext cx="8229600" cy="685800"/>
          </a:xfrm>
          <a:prstGeom prst="rect">
            <a:avLst/>
          </a:prstGeom>
          <a:solidFill>
            <a:srgbClr val="F5F5F5"/>
          </a:solidFill>
          <a:ln/>
        </p:spPr>
        <p:txBody>
          <a:bodyPr/>
          <a:lstStyle/>
          <a:p>
            <a:endParaRPr lang="en-US"/>
          </a:p>
        </p:txBody>
      </p:sp>
      <p:sp>
        <p:nvSpPr>
          <p:cNvPr id="14" name="Text 12"/>
          <p:cNvSpPr/>
          <p:nvPr/>
        </p:nvSpPr>
        <p:spPr>
          <a:xfrm>
            <a:off x="640080" y="3611880"/>
            <a:ext cx="1371600" cy="685800"/>
          </a:xfrm>
          <a:prstGeom prst="rect">
            <a:avLst/>
          </a:prstGeom>
          <a:noFill/>
          <a:ln/>
        </p:spPr>
        <p:txBody>
          <a:bodyPr wrap="square" rtlCol="0" anchor="ctr"/>
          <a:lstStyle/>
          <a:p>
            <a:pPr marL="0" indent="0">
              <a:buNone/>
            </a:pPr>
            <a:r>
              <a:rPr lang="en-US" sz="2800" b="1" dirty="0">
                <a:solidFill>
                  <a:srgbClr val="FF6600"/>
                </a:solidFill>
                <a:latin typeface="Times New Roman" pitchFamily="34" charset="0"/>
                <a:ea typeface="Times New Roman" pitchFamily="34" charset="-122"/>
                <a:cs typeface="Times New Roman" pitchFamily="34" charset="-120"/>
              </a:rPr>
              <a:t>16</a:t>
            </a:r>
            <a:endParaRPr lang="en-US" sz="2800" dirty="0"/>
          </a:p>
        </p:txBody>
      </p:sp>
      <p:sp>
        <p:nvSpPr>
          <p:cNvPr id="15" name="Text 13"/>
          <p:cNvSpPr/>
          <p:nvPr/>
        </p:nvSpPr>
        <p:spPr>
          <a:xfrm>
            <a:off x="2103120" y="3611880"/>
            <a:ext cx="6217920" cy="685800"/>
          </a:xfrm>
          <a:prstGeom prst="rect">
            <a:avLst/>
          </a:prstGeom>
          <a:noFill/>
          <a:ln/>
        </p:spPr>
        <p:txBody>
          <a:bodyPr wrap="square" rtlCol="0" anchor="ctr"/>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states have established credential value frameworks</a:t>
            </a:r>
            <a:endParaRPr lang="en-US" sz="1600" dirty="0"/>
          </a:p>
        </p:txBody>
      </p:sp>
      <p:sp>
        <p:nvSpPr>
          <p:cNvPr id="16" name="Shape 14"/>
          <p:cNvSpPr/>
          <p:nvPr/>
        </p:nvSpPr>
        <p:spPr>
          <a:xfrm>
            <a:off x="457200" y="4480560"/>
            <a:ext cx="8229600" cy="502920"/>
          </a:xfrm>
          <a:prstGeom prst="rect">
            <a:avLst/>
          </a:prstGeom>
          <a:solidFill>
            <a:srgbClr val="008080"/>
          </a:solidFill>
          <a:ln/>
        </p:spPr>
        <p:txBody>
          <a:bodyPr/>
          <a:lstStyle/>
          <a:p>
            <a:endParaRPr lang="en-US"/>
          </a:p>
        </p:txBody>
      </p:sp>
      <p:sp>
        <p:nvSpPr>
          <p:cNvPr id="17" name="Text 15"/>
          <p:cNvSpPr/>
          <p:nvPr/>
        </p:nvSpPr>
        <p:spPr>
          <a:xfrm>
            <a:off x="457200" y="4480560"/>
            <a:ext cx="8229600" cy="502920"/>
          </a:xfrm>
          <a:prstGeom prst="rect">
            <a:avLst/>
          </a:prstGeom>
          <a:noFill/>
          <a:ln/>
        </p:spPr>
        <p:txBody>
          <a:bodyPr wrap="square"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FTCC is a "Credential As You Go" participant — ahead of the curve</a:t>
            </a:r>
            <a:endParaRPr lang="en-US" sz="1600" dirty="0"/>
          </a:p>
        </p:txBody>
      </p:sp>
      <p:sp>
        <p:nvSpPr>
          <p:cNvPr id="18" name="Text 16"/>
          <p:cNvSpPr/>
          <p:nvPr/>
        </p:nvSpPr>
        <p:spPr>
          <a:xfrm>
            <a:off x="457200" y="5029200"/>
            <a:ext cx="8229600" cy="274320"/>
          </a:xfrm>
          <a:prstGeom prst="rect">
            <a:avLst/>
          </a:prstGeom>
          <a:noFill/>
          <a:ln/>
        </p:spPr>
        <p:txBody>
          <a:bodyPr wrap="square" rtlCol="0" anchor="ctr"/>
          <a:lstStyle/>
          <a:p>
            <a:pPr marL="0" indent="0" algn="r">
              <a:buNone/>
            </a:pPr>
            <a:r>
              <a:rPr lang="en-US" sz="1000" i="1" dirty="0">
                <a:solidFill>
                  <a:srgbClr val="333333"/>
                </a:solidFill>
                <a:latin typeface="Times New Roman" pitchFamily="34" charset="0"/>
                <a:ea typeface="Times New Roman" pitchFamily="34" charset="-122"/>
                <a:cs typeface="Times New Roman" pitchFamily="34" charset="-120"/>
              </a:rPr>
              <a:t>Source: Digital Promise 2025 Policy Scan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808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FFFFFF"/>
                </a:solidFill>
                <a:latin typeface="Times New Roman" pitchFamily="34" charset="0"/>
                <a:ea typeface="Times New Roman" pitchFamily="34" charset="-122"/>
                <a:cs typeface="Times New Roman" pitchFamily="34" charset="-120"/>
              </a:rPr>
              <a:t>Credential As You Go: Building Toward Degrees</a:t>
            </a:r>
            <a:endParaRPr lang="en-US" sz="2800" dirty="0"/>
          </a:p>
        </p:txBody>
      </p:sp>
      <p:sp>
        <p:nvSpPr>
          <p:cNvPr id="4" name="Shape 2"/>
          <p:cNvSpPr/>
          <p:nvPr/>
        </p:nvSpPr>
        <p:spPr>
          <a:xfrm>
            <a:off x="2971800" y="1169504"/>
            <a:ext cx="3200400" cy="685800"/>
          </a:xfrm>
          <a:prstGeom prst="rect">
            <a:avLst/>
          </a:prstGeom>
          <a:solidFill>
            <a:srgbClr val="008080"/>
          </a:solidFill>
          <a:ln/>
        </p:spPr>
        <p:txBody>
          <a:bodyPr/>
          <a:lstStyle/>
          <a:p>
            <a:endParaRPr lang="en-US"/>
          </a:p>
        </p:txBody>
      </p:sp>
      <p:sp>
        <p:nvSpPr>
          <p:cNvPr id="5" name="Text 3"/>
          <p:cNvSpPr/>
          <p:nvPr/>
        </p:nvSpPr>
        <p:spPr>
          <a:xfrm>
            <a:off x="2971800" y="1371600"/>
            <a:ext cx="1600200" cy="685800"/>
          </a:xfrm>
          <a:prstGeom prst="rect">
            <a:avLst/>
          </a:prstGeom>
          <a:noFill/>
          <a:ln/>
        </p:spPr>
        <p:txBody>
          <a:bodyPr wrap="square"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Micro-Credential</a:t>
            </a:r>
            <a:endParaRPr lang="en-US" sz="1400" dirty="0"/>
          </a:p>
        </p:txBody>
      </p:sp>
      <p:sp>
        <p:nvSpPr>
          <p:cNvPr id="6" name="Text 4"/>
          <p:cNvSpPr/>
          <p:nvPr/>
        </p:nvSpPr>
        <p:spPr>
          <a:xfrm>
            <a:off x="4572000" y="1371600"/>
            <a:ext cx="1600200" cy="685800"/>
          </a:xfrm>
          <a:prstGeom prst="rect">
            <a:avLst/>
          </a:prstGeom>
          <a:noFill/>
          <a:ln/>
        </p:spPr>
        <p:txBody>
          <a:bodyPr wrap="square" rtlCol="0" anchor="ctr"/>
          <a:lstStyle/>
          <a:p>
            <a:pPr marL="0" indent="0" algn="ctr">
              <a:buNone/>
            </a:pPr>
            <a:r>
              <a:rPr lang="en-US" sz="1200" dirty="0">
                <a:solidFill>
                  <a:srgbClr val="FFFFFF"/>
                </a:solidFill>
                <a:latin typeface="Times New Roman" pitchFamily="34" charset="0"/>
                <a:ea typeface="Times New Roman" pitchFamily="34" charset="-122"/>
                <a:cs typeface="Times New Roman" pitchFamily="34" charset="-120"/>
              </a:rPr>
              <a:t>5-20 hours, single skill</a:t>
            </a:r>
            <a:endParaRPr lang="en-US" sz="1200" dirty="0"/>
          </a:p>
        </p:txBody>
      </p:sp>
      <p:sp>
        <p:nvSpPr>
          <p:cNvPr id="7" name="Shape 5"/>
          <p:cNvSpPr/>
          <p:nvPr/>
        </p:nvSpPr>
        <p:spPr>
          <a:xfrm>
            <a:off x="2206487" y="1933161"/>
            <a:ext cx="4572000" cy="685800"/>
          </a:xfrm>
          <a:prstGeom prst="rect">
            <a:avLst/>
          </a:prstGeom>
          <a:solidFill>
            <a:srgbClr val="00A3A3"/>
          </a:solidFill>
          <a:ln/>
        </p:spPr>
        <p:txBody>
          <a:bodyPr/>
          <a:lstStyle/>
          <a:p>
            <a:endParaRPr lang="en-US"/>
          </a:p>
        </p:txBody>
      </p:sp>
      <p:sp>
        <p:nvSpPr>
          <p:cNvPr id="8" name="Text 6"/>
          <p:cNvSpPr/>
          <p:nvPr/>
        </p:nvSpPr>
        <p:spPr>
          <a:xfrm>
            <a:off x="2286000" y="2148840"/>
            <a:ext cx="2286000" cy="685800"/>
          </a:xfrm>
          <a:prstGeom prst="rect">
            <a:avLst/>
          </a:prstGeom>
          <a:noFill/>
          <a:ln/>
        </p:spPr>
        <p:txBody>
          <a:bodyPr wrap="square"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Macro-Credential</a:t>
            </a:r>
            <a:endParaRPr lang="en-US" sz="1400" dirty="0"/>
          </a:p>
        </p:txBody>
      </p:sp>
      <p:sp>
        <p:nvSpPr>
          <p:cNvPr id="9" name="Text 7"/>
          <p:cNvSpPr/>
          <p:nvPr/>
        </p:nvSpPr>
        <p:spPr>
          <a:xfrm>
            <a:off x="4572000" y="2148840"/>
            <a:ext cx="2286000" cy="685800"/>
          </a:xfrm>
          <a:prstGeom prst="rect">
            <a:avLst/>
          </a:prstGeom>
          <a:noFill/>
          <a:ln/>
        </p:spPr>
        <p:txBody>
          <a:bodyPr wrap="square" rtlCol="0" anchor="ctr"/>
          <a:lstStyle/>
          <a:p>
            <a:pPr marL="0" indent="0" algn="ctr">
              <a:buNone/>
            </a:pPr>
            <a:r>
              <a:rPr lang="en-US" sz="1200" dirty="0">
                <a:solidFill>
                  <a:srgbClr val="FFFFFF"/>
                </a:solidFill>
                <a:latin typeface="Times New Roman" pitchFamily="34" charset="0"/>
                <a:ea typeface="Times New Roman" pitchFamily="34" charset="-122"/>
                <a:cs typeface="Times New Roman" pitchFamily="34" charset="-120"/>
              </a:rPr>
              <a:t>40-100 hours, skill cluster</a:t>
            </a:r>
            <a:endParaRPr lang="en-US" sz="1200" dirty="0"/>
          </a:p>
        </p:txBody>
      </p:sp>
      <p:sp>
        <p:nvSpPr>
          <p:cNvPr id="10" name="Shape 8"/>
          <p:cNvSpPr/>
          <p:nvPr/>
        </p:nvSpPr>
        <p:spPr>
          <a:xfrm>
            <a:off x="1600200" y="2696818"/>
            <a:ext cx="5943600" cy="685800"/>
          </a:xfrm>
          <a:prstGeom prst="rect">
            <a:avLst/>
          </a:prstGeom>
          <a:solidFill>
            <a:srgbClr val="FF8533"/>
          </a:solidFill>
          <a:ln/>
        </p:spPr>
        <p:txBody>
          <a:bodyPr/>
          <a:lstStyle/>
          <a:p>
            <a:endParaRPr lang="en-US"/>
          </a:p>
        </p:txBody>
      </p:sp>
      <p:sp>
        <p:nvSpPr>
          <p:cNvPr id="11" name="Text 9"/>
          <p:cNvSpPr/>
          <p:nvPr/>
        </p:nvSpPr>
        <p:spPr>
          <a:xfrm>
            <a:off x="1600200" y="2926080"/>
            <a:ext cx="2971800" cy="685800"/>
          </a:xfrm>
          <a:prstGeom prst="rect">
            <a:avLst/>
          </a:prstGeom>
          <a:noFill/>
          <a:ln/>
        </p:spPr>
        <p:txBody>
          <a:bodyPr wrap="square"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Certificate</a:t>
            </a:r>
            <a:endParaRPr lang="en-US" sz="1400" dirty="0"/>
          </a:p>
        </p:txBody>
      </p:sp>
      <p:sp>
        <p:nvSpPr>
          <p:cNvPr id="12" name="Text 10"/>
          <p:cNvSpPr/>
          <p:nvPr/>
        </p:nvSpPr>
        <p:spPr>
          <a:xfrm>
            <a:off x="4572000" y="2926080"/>
            <a:ext cx="2971800" cy="685800"/>
          </a:xfrm>
          <a:prstGeom prst="rect">
            <a:avLst/>
          </a:prstGeom>
          <a:noFill/>
          <a:ln/>
        </p:spPr>
        <p:txBody>
          <a:bodyPr wrap="square" rtlCol="0" anchor="ctr"/>
          <a:lstStyle/>
          <a:p>
            <a:pPr marL="0" indent="0" algn="ctr">
              <a:buNone/>
            </a:pPr>
            <a:r>
              <a:rPr lang="en-US" sz="1200" dirty="0">
                <a:solidFill>
                  <a:srgbClr val="FFFFFF"/>
                </a:solidFill>
                <a:latin typeface="Times New Roman" pitchFamily="34" charset="0"/>
                <a:ea typeface="Times New Roman" pitchFamily="34" charset="-122"/>
                <a:cs typeface="Times New Roman" pitchFamily="34" charset="-120"/>
              </a:rPr>
              <a:t>1 semester, industry-aligned</a:t>
            </a:r>
            <a:endParaRPr lang="en-US" sz="1200" dirty="0"/>
          </a:p>
        </p:txBody>
      </p:sp>
      <p:sp>
        <p:nvSpPr>
          <p:cNvPr id="13" name="Shape 11"/>
          <p:cNvSpPr/>
          <p:nvPr/>
        </p:nvSpPr>
        <p:spPr>
          <a:xfrm>
            <a:off x="914400" y="3520440"/>
            <a:ext cx="7315200" cy="685800"/>
          </a:xfrm>
          <a:prstGeom prst="rect">
            <a:avLst/>
          </a:prstGeom>
          <a:solidFill>
            <a:srgbClr val="FF6600"/>
          </a:solidFill>
          <a:ln/>
        </p:spPr>
        <p:txBody>
          <a:bodyPr/>
          <a:lstStyle/>
          <a:p>
            <a:endParaRPr lang="en-US"/>
          </a:p>
        </p:txBody>
      </p:sp>
      <p:sp>
        <p:nvSpPr>
          <p:cNvPr id="14" name="Text 12"/>
          <p:cNvSpPr/>
          <p:nvPr/>
        </p:nvSpPr>
        <p:spPr>
          <a:xfrm>
            <a:off x="914400" y="3703320"/>
            <a:ext cx="3657600" cy="685800"/>
          </a:xfrm>
          <a:prstGeom prst="rect">
            <a:avLst/>
          </a:prstGeom>
          <a:noFill/>
          <a:ln/>
        </p:spPr>
        <p:txBody>
          <a:bodyPr wrap="square"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Associate Degree</a:t>
            </a:r>
            <a:endParaRPr lang="en-US" sz="1400" dirty="0"/>
          </a:p>
        </p:txBody>
      </p:sp>
      <p:sp>
        <p:nvSpPr>
          <p:cNvPr id="15" name="Text 13"/>
          <p:cNvSpPr/>
          <p:nvPr/>
        </p:nvSpPr>
        <p:spPr>
          <a:xfrm>
            <a:off x="4572000" y="3703320"/>
            <a:ext cx="3657600" cy="685800"/>
          </a:xfrm>
          <a:prstGeom prst="rect">
            <a:avLst/>
          </a:prstGeom>
          <a:noFill/>
          <a:ln/>
        </p:spPr>
        <p:txBody>
          <a:bodyPr wrap="square" rtlCol="0" anchor="ctr"/>
          <a:lstStyle/>
          <a:p>
            <a:pPr marL="0" indent="0" algn="ctr">
              <a:buNone/>
            </a:pPr>
            <a:r>
              <a:rPr lang="en-US" sz="1200" dirty="0">
                <a:solidFill>
                  <a:srgbClr val="FFFFFF"/>
                </a:solidFill>
                <a:latin typeface="Times New Roman" pitchFamily="34" charset="0"/>
                <a:ea typeface="Times New Roman" pitchFamily="34" charset="-122"/>
                <a:cs typeface="Times New Roman" pitchFamily="34" charset="-120"/>
              </a:rPr>
              <a:t>2 years, comprehensive</a:t>
            </a:r>
            <a:endParaRPr lang="en-US" sz="1200" dirty="0"/>
          </a:p>
        </p:txBody>
      </p:sp>
      <p:sp>
        <p:nvSpPr>
          <p:cNvPr id="16" name="Text 14"/>
          <p:cNvSpPr/>
          <p:nvPr/>
        </p:nvSpPr>
        <p:spPr>
          <a:xfrm>
            <a:off x="457200" y="4206240"/>
            <a:ext cx="8229600" cy="365760"/>
          </a:xfrm>
          <a:prstGeom prst="rect">
            <a:avLst/>
          </a:prstGeom>
          <a:noFill/>
          <a:ln/>
        </p:spPr>
        <p:txBody>
          <a:bodyPr wrap="square" rtlCol="0" anchor="ctr"/>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FTCC Example: Industrial Systems Pathway</a:t>
            </a:r>
            <a:endParaRPr lang="en-US" sz="1600" dirty="0"/>
          </a:p>
        </p:txBody>
      </p:sp>
      <p:sp>
        <p:nvSpPr>
          <p:cNvPr id="17" name="Shape 15"/>
          <p:cNvSpPr/>
          <p:nvPr/>
        </p:nvSpPr>
        <p:spPr>
          <a:xfrm>
            <a:off x="457200" y="4572000"/>
            <a:ext cx="8229600" cy="457200"/>
          </a:xfrm>
          <a:prstGeom prst="rect">
            <a:avLst/>
          </a:prstGeom>
          <a:solidFill>
            <a:srgbClr val="F5F5F5"/>
          </a:solidFill>
          <a:ln/>
        </p:spPr>
        <p:txBody>
          <a:bodyPr/>
          <a:lstStyle/>
          <a:p>
            <a:endParaRPr lang="en-US"/>
          </a:p>
        </p:txBody>
      </p:sp>
      <p:sp>
        <p:nvSpPr>
          <p:cNvPr id="18" name="Text 16"/>
          <p:cNvSpPr/>
          <p:nvPr/>
        </p:nvSpPr>
        <p:spPr>
          <a:xfrm>
            <a:off x="457200" y="4572000"/>
            <a:ext cx="8229600" cy="457200"/>
          </a:xfrm>
          <a:prstGeom prst="rect">
            <a:avLst/>
          </a:prstGeom>
          <a:noFill/>
          <a:ln/>
        </p:spPr>
        <p:txBody>
          <a:bodyPr wrap="square" rtlCol="0" anchor="ctr"/>
          <a:lstStyle/>
          <a:p>
            <a:pPr marL="0" indent="0" algn="ctr">
              <a:buNone/>
            </a:pPr>
            <a:r>
              <a:rPr lang="en-US" sz="1300" dirty="0">
                <a:solidFill>
                  <a:srgbClr val="333333"/>
                </a:solidFill>
                <a:latin typeface="Times New Roman" pitchFamily="34" charset="0"/>
                <a:ea typeface="Times New Roman" pitchFamily="34" charset="-122"/>
                <a:cs typeface="Times New Roman" pitchFamily="34" charset="-120"/>
              </a:rPr>
              <a:t>OSHA-10 + Industrial Hazards → Industrial Safety Macro → Certificate → AAS Degree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F660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3000" b="1" dirty="0">
                <a:solidFill>
                  <a:srgbClr val="FFFFFF"/>
                </a:solidFill>
                <a:latin typeface="Times New Roman" pitchFamily="34" charset="0"/>
                <a:ea typeface="Times New Roman" pitchFamily="34" charset="-122"/>
                <a:cs typeface="Times New Roman" pitchFamily="34" charset="-120"/>
              </a:rPr>
              <a:t>Where Microcredentials Meet Your Mission</a:t>
            </a:r>
            <a:endParaRPr lang="en-US" sz="3000" dirty="0"/>
          </a:p>
        </p:txBody>
      </p:sp>
      <p:sp>
        <p:nvSpPr>
          <p:cNvPr id="4" name="Shape 2"/>
          <p:cNvSpPr/>
          <p:nvPr/>
        </p:nvSpPr>
        <p:spPr>
          <a:xfrm>
            <a:off x="457200" y="1280160"/>
            <a:ext cx="2560320" cy="1463040"/>
          </a:xfrm>
          <a:prstGeom prst="rect">
            <a:avLst/>
          </a:prstGeom>
          <a:solidFill>
            <a:srgbClr val="E0F2F1"/>
          </a:solidFill>
          <a:ln/>
        </p:spPr>
        <p:txBody>
          <a:bodyPr/>
          <a:lstStyle/>
          <a:p>
            <a:endParaRPr lang="en-US"/>
          </a:p>
        </p:txBody>
      </p:sp>
      <p:sp>
        <p:nvSpPr>
          <p:cNvPr id="5" name="Shape 3"/>
          <p:cNvSpPr/>
          <p:nvPr/>
        </p:nvSpPr>
        <p:spPr>
          <a:xfrm>
            <a:off x="1417320" y="1417320"/>
            <a:ext cx="640080" cy="640080"/>
          </a:xfrm>
          <a:prstGeom prst="ellipse">
            <a:avLst/>
          </a:prstGeom>
          <a:solidFill>
            <a:srgbClr val="008080"/>
          </a:solidFill>
          <a:ln/>
        </p:spPr>
        <p:txBody>
          <a:bodyPr/>
          <a:lstStyle/>
          <a:p>
            <a:endParaRPr lang="en-US"/>
          </a:p>
        </p:txBody>
      </p:sp>
      <p:sp>
        <p:nvSpPr>
          <p:cNvPr id="6" name="Text 4"/>
          <p:cNvSpPr/>
          <p:nvPr/>
        </p:nvSpPr>
        <p:spPr>
          <a:xfrm>
            <a:off x="457200" y="2103120"/>
            <a:ext cx="2560320" cy="320040"/>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Communication</a:t>
            </a:r>
            <a:endParaRPr lang="en-US" sz="1400" dirty="0"/>
          </a:p>
        </p:txBody>
      </p:sp>
      <p:sp>
        <p:nvSpPr>
          <p:cNvPr id="7" name="Text 5"/>
          <p:cNvSpPr/>
          <p:nvPr/>
        </p:nvSpPr>
        <p:spPr>
          <a:xfrm>
            <a:off x="457200" y="2377440"/>
            <a:ext cx="2560320" cy="274320"/>
          </a:xfrm>
          <a:prstGeom prst="rect">
            <a:avLst/>
          </a:prstGeom>
          <a:noFill/>
          <a:ln/>
        </p:spPr>
        <p:txBody>
          <a:bodyPr wrap="square" rtlCol="0" anchor="ctr"/>
          <a:lstStyle/>
          <a:p>
            <a:pPr marL="0" indent="0" algn="ctr">
              <a:buNone/>
            </a:pPr>
            <a:r>
              <a:rPr lang="en-US" sz="1100" dirty="0">
                <a:solidFill>
                  <a:srgbClr val="333333"/>
                </a:solidFill>
                <a:latin typeface="Times New Roman" pitchFamily="34" charset="0"/>
                <a:ea typeface="Times New Roman" pitchFamily="34" charset="-122"/>
                <a:cs typeface="Times New Roman" pitchFamily="34" charset="-120"/>
              </a:rPr>
              <a:t>written, oral, professional</a:t>
            </a:r>
            <a:endParaRPr lang="en-US" sz="1100" dirty="0"/>
          </a:p>
        </p:txBody>
      </p:sp>
      <p:sp>
        <p:nvSpPr>
          <p:cNvPr id="8" name="Shape 6"/>
          <p:cNvSpPr/>
          <p:nvPr/>
        </p:nvSpPr>
        <p:spPr>
          <a:xfrm>
            <a:off x="3200400" y="1280160"/>
            <a:ext cx="2560320" cy="1463040"/>
          </a:xfrm>
          <a:prstGeom prst="rect">
            <a:avLst/>
          </a:prstGeom>
          <a:solidFill>
            <a:srgbClr val="FFF3E0"/>
          </a:solidFill>
          <a:ln/>
        </p:spPr>
        <p:txBody>
          <a:bodyPr/>
          <a:lstStyle/>
          <a:p>
            <a:endParaRPr lang="en-US"/>
          </a:p>
        </p:txBody>
      </p:sp>
      <p:sp>
        <p:nvSpPr>
          <p:cNvPr id="9" name="Shape 7"/>
          <p:cNvSpPr/>
          <p:nvPr/>
        </p:nvSpPr>
        <p:spPr>
          <a:xfrm>
            <a:off x="4160520" y="1417320"/>
            <a:ext cx="640080" cy="640080"/>
          </a:xfrm>
          <a:prstGeom prst="ellipse">
            <a:avLst/>
          </a:prstGeom>
          <a:solidFill>
            <a:srgbClr val="FF6600"/>
          </a:solidFill>
          <a:ln/>
        </p:spPr>
        <p:txBody>
          <a:bodyPr/>
          <a:lstStyle/>
          <a:p>
            <a:endParaRPr lang="en-US"/>
          </a:p>
        </p:txBody>
      </p:sp>
      <p:sp>
        <p:nvSpPr>
          <p:cNvPr id="10" name="Text 8"/>
          <p:cNvSpPr/>
          <p:nvPr/>
        </p:nvSpPr>
        <p:spPr>
          <a:xfrm>
            <a:off x="3200400" y="2103120"/>
            <a:ext cx="2560320" cy="320040"/>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Critical Thinking</a:t>
            </a:r>
            <a:endParaRPr lang="en-US" sz="1400" dirty="0"/>
          </a:p>
        </p:txBody>
      </p:sp>
      <p:sp>
        <p:nvSpPr>
          <p:cNvPr id="11" name="Text 9"/>
          <p:cNvSpPr/>
          <p:nvPr/>
        </p:nvSpPr>
        <p:spPr>
          <a:xfrm>
            <a:off x="3200400" y="2377440"/>
            <a:ext cx="2560320" cy="274320"/>
          </a:xfrm>
          <a:prstGeom prst="rect">
            <a:avLst/>
          </a:prstGeom>
          <a:noFill/>
          <a:ln/>
        </p:spPr>
        <p:txBody>
          <a:bodyPr wrap="square" rtlCol="0" anchor="ctr"/>
          <a:lstStyle/>
          <a:p>
            <a:pPr marL="0" indent="0" algn="ctr">
              <a:buNone/>
            </a:pPr>
            <a:r>
              <a:rPr lang="en-US" sz="1100" dirty="0">
                <a:solidFill>
                  <a:srgbClr val="333333"/>
                </a:solidFill>
                <a:latin typeface="Times New Roman" pitchFamily="34" charset="0"/>
                <a:ea typeface="Times New Roman" pitchFamily="34" charset="-122"/>
                <a:cs typeface="Times New Roman" pitchFamily="34" charset="-120"/>
              </a:rPr>
              <a:t>problem-solving</a:t>
            </a:r>
            <a:endParaRPr lang="en-US" sz="1100" dirty="0"/>
          </a:p>
        </p:txBody>
      </p:sp>
      <p:sp>
        <p:nvSpPr>
          <p:cNvPr id="12" name="Shape 10"/>
          <p:cNvSpPr/>
          <p:nvPr/>
        </p:nvSpPr>
        <p:spPr>
          <a:xfrm>
            <a:off x="5943600" y="1280160"/>
            <a:ext cx="2560320" cy="1463040"/>
          </a:xfrm>
          <a:prstGeom prst="rect">
            <a:avLst/>
          </a:prstGeom>
          <a:solidFill>
            <a:srgbClr val="E0F2F1"/>
          </a:solidFill>
          <a:ln/>
        </p:spPr>
        <p:txBody>
          <a:bodyPr/>
          <a:lstStyle/>
          <a:p>
            <a:endParaRPr lang="en-US"/>
          </a:p>
        </p:txBody>
      </p:sp>
      <p:sp>
        <p:nvSpPr>
          <p:cNvPr id="13" name="Shape 11"/>
          <p:cNvSpPr/>
          <p:nvPr/>
        </p:nvSpPr>
        <p:spPr>
          <a:xfrm>
            <a:off x="6903720" y="1417320"/>
            <a:ext cx="640080" cy="640080"/>
          </a:xfrm>
          <a:prstGeom prst="ellipse">
            <a:avLst/>
          </a:prstGeom>
          <a:solidFill>
            <a:srgbClr val="008080"/>
          </a:solidFill>
          <a:ln/>
        </p:spPr>
        <p:txBody>
          <a:bodyPr/>
          <a:lstStyle/>
          <a:p>
            <a:endParaRPr lang="en-US"/>
          </a:p>
        </p:txBody>
      </p:sp>
      <p:sp>
        <p:nvSpPr>
          <p:cNvPr id="14" name="Text 12"/>
          <p:cNvSpPr/>
          <p:nvPr/>
        </p:nvSpPr>
        <p:spPr>
          <a:xfrm>
            <a:off x="5943600" y="2103120"/>
            <a:ext cx="2560320" cy="320040"/>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Teamwork</a:t>
            </a:r>
            <a:endParaRPr lang="en-US" sz="1400" dirty="0"/>
          </a:p>
        </p:txBody>
      </p:sp>
      <p:sp>
        <p:nvSpPr>
          <p:cNvPr id="15" name="Text 13"/>
          <p:cNvSpPr/>
          <p:nvPr/>
        </p:nvSpPr>
        <p:spPr>
          <a:xfrm>
            <a:off x="5943600" y="2377440"/>
            <a:ext cx="2560320" cy="274320"/>
          </a:xfrm>
          <a:prstGeom prst="rect">
            <a:avLst/>
          </a:prstGeom>
          <a:noFill/>
          <a:ln/>
        </p:spPr>
        <p:txBody>
          <a:bodyPr wrap="square" rtlCol="0" anchor="ctr"/>
          <a:lstStyle/>
          <a:p>
            <a:pPr marL="0" indent="0" algn="ctr">
              <a:buNone/>
            </a:pPr>
            <a:r>
              <a:rPr lang="en-US" sz="1100" dirty="0">
                <a:solidFill>
                  <a:srgbClr val="333333"/>
                </a:solidFill>
                <a:latin typeface="Times New Roman" pitchFamily="34" charset="0"/>
                <a:ea typeface="Times New Roman" pitchFamily="34" charset="-122"/>
                <a:cs typeface="Times New Roman" pitchFamily="34" charset="-120"/>
              </a:rPr>
              <a:t>collaboration</a:t>
            </a:r>
            <a:endParaRPr lang="en-US" sz="1100" dirty="0"/>
          </a:p>
        </p:txBody>
      </p:sp>
      <p:sp>
        <p:nvSpPr>
          <p:cNvPr id="16" name="Shape 14"/>
          <p:cNvSpPr/>
          <p:nvPr/>
        </p:nvSpPr>
        <p:spPr>
          <a:xfrm>
            <a:off x="457200" y="3017520"/>
            <a:ext cx="2560320" cy="1463040"/>
          </a:xfrm>
          <a:prstGeom prst="rect">
            <a:avLst/>
          </a:prstGeom>
          <a:solidFill>
            <a:srgbClr val="FFF3E0"/>
          </a:solidFill>
          <a:ln/>
        </p:spPr>
        <p:txBody>
          <a:bodyPr/>
          <a:lstStyle/>
          <a:p>
            <a:endParaRPr lang="en-US"/>
          </a:p>
        </p:txBody>
      </p:sp>
      <p:sp>
        <p:nvSpPr>
          <p:cNvPr id="17" name="Shape 15"/>
          <p:cNvSpPr/>
          <p:nvPr/>
        </p:nvSpPr>
        <p:spPr>
          <a:xfrm>
            <a:off x="1417320" y="3154680"/>
            <a:ext cx="640080" cy="640080"/>
          </a:xfrm>
          <a:prstGeom prst="ellipse">
            <a:avLst/>
          </a:prstGeom>
          <a:solidFill>
            <a:srgbClr val="FF6600"/>
          </a:solidFill>
          <a:ln/>
        </p:spPr>
        <p:txBody>
          <a:bodyPr/>
          <a:lstStyle/>
          <a:p>
            <a:endParaRPr lang="en-US"/>
          </a:p>
        </p:txBody>
      </p:sp>
      <p:sp>
        <p:nvSpPr>
          <p:cNvPr id="18" name="Text 16"/>
          <p:cNvSpPr/>
          <p:nvPr/>
        </p:nvSpPr>
        <p:spPr>
          <a:xfrm>
            <a:off x="457200" y="3840480"/>
            <a:ext cx="2560320" cy="320040"/>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Digital Literacy</a:t>
            </a:r>
            <a:endParaRPr lang="en-US" sz="1400" dirty="0"/>
          </a:p>
        </p:txBody>
      </p:sp>
      <p:sp>
        <p:nvSpPr>
          <p:cNvPr id="19" name="Text 17"/>
          <p:cNvSpPr/>
          <p:nvPr/>
        </p:nvSpPr>
        <p:spPr>
          <a:xfrm>
            <a:off x="457200" y="4114800"/>
            <a:ext cx="2560320" cy="274320"/>
          </a:xfrm>
          <a:prstGeom prst="rect">
            <a:avLst/>
          </a:prstGeom>
          <a:noFill/>
          <a:ln/>
        </p:spPr>
        <p:txBody>
          <a:bodyPr wrap="square" rtlCol="0" anchor="ctr"/>
          <a:lstStyle/>
          <a:p>
            <a:pPr marL="0" indent="0" algn="ctr">
              <a:buNone/>
            </a:pPr>
            <a:r>
              <a:rPr lang="en-US" sz="1100" dirty="0">
                <a:solidFill>
                  <a:srgbClr val="333333"/>
                </a:solidFill>
                <a:latin typeface="Times New Roman" pitchFamily="34" charset="0"/>
                <a:ea typeface="Times New Roman" pitchFamily="34" charset="-122"/>
                <a:cs typeface="Times New Roman" pitchFamily="34" charset="-120"/>
              </a:rPr>
              <a:t>technology skills</a:t>
            </a:r>
            <a:endParaRPr lang="en-US" sz="1100" dirty="0"/>
          </a:p>
        </p:txBody>
      </p:sp>
      <p:sp>
        <p:nvSpPr>
          <p:cNvPr id="20" name="Shape 18"/>
          <p:cNvSpPr/>
          <p:nvPr/>
        </p:nvSpPr>
        <p:spPr>
          <a:xfrm>
            <a:off x="3200400" y="3017520"/>
            <a:ext cx="2560320" cy="1463040"/>
          </a:xfrm>
          <a:prstGeom prst="rect">
            <a:avLst/>
          </a:prstGeom>
          <a:solidFill>
            <a:srgbClr val="E0F2F1"/>
          </a:solidFill>
          <a:ln/>
        </p:spPr>
        <p:txBody>
          <a:bodyPr/>
          <a:lstStyle/>
          <a:p>
            <a:endParaRPr lang="en-US"/>
          </a:p>
        </p:txBody>
      </p:sp>
      <p:sp>
        <p:nvSpPr>
          <p:cNvPr id="21" name="Shape 19"/>
          <p:cNvSpPr/>
          <p:nvPr/>
        </p:nvSpPr>
        <p:spPr>
          <a:xfrm>
            <a:off x="4160520" y="3154680"/>
            <a:ext cx="640080" cy="640080"/>
          </a:xfrm>
          <a:prstGeom prst="ellipse">
            <a:avLst/>
          </a:prstGeom>
          <a:solidFill>
            <a:srgbClr val="008080"/>
          </a:solidFill>
          <a:ln/>
        </p:spPr>
        <p:txBody>
          <a:bodyPr/>
          <a:lstStyle/>
          <a:p>
            <a:endParaRPr lang="en-US"/>
          </a:p>
        </p:txBody>
      </p:sp>
      <p:sp>
        <p:nvSpPr>
          <p:cNvPr id="22" name="Text 20"/>
          <p:cNvSpPr/>
          <p:nvPr/>
        </p:nvSpPr>
        <p:spPr>
          <a:xfrm>
            <a:off x="3200400" y="3840480"/>
            <a:ext cx="2560320" cy="320040"/>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Financial Literacy</a:t>
            </a:r>
            <a:endParaRPr lang="en-US" sz="1400" dirty="0"/>
          </a:p>
        </p:txBody>
      </p:sp>
      <p:sp>
        <p:nvSpPr>
          <p:cNvPr id="23" name="Text 21"/>
          <p:cNvSpPr/>
          <p:nvPr/>
        </p:nvSpPr>
        <p:spPr>
          <a:xfrm>
            <a:off x="3200400" y="4114800"/>
            <a:ext cx="2560320" cy="274320"/>
          </a:xfrm>
          <a:prstGeom prst="rect">
            <a:avLst/>
          </a:prstGeom>
          <a:noFill/>
          <a:ln/>
        </p:spPr>
        <p:txBody>
          <a:bodyPr wrap="square" rtlCol="0" anchor="ctr"/>
          <a:lstStyle/>
          <a:p>
            <a:pPr marL="0" indent="0" algn="ctr">
              <a:buNone/>
            </a:pPr>
            <a:r>
              <a:rPr lang="en-US" sz="1100" dirty="0">
                <a:solidFill>
                  <a:srgbClr val="333333"/>
                </a:solidFill>
                <a:latin typeface="Times New Roman" pitchFamily="34" charset="0"/>
                <a:ea typeface="Times New Roman" pitchFamily="34" charset="-122"/>
                <a:cs typeface="Times New Roman" pitchFamily="34" charset="-120"/>
              </a:rPr>
              <a:t>money management</a:t>
            </a:r>
            <a:endParaRPr lang="en-US" sz="1100" dirty="0"/>
          </a:p>
        </p:txBody>
      </p:sp>
      <p:sp>
        <p:nvSpPr>
          <p:cNvPr id="24" name="Shape 22"/>
          <p:cNvSpPr/>
          <p:nvPr/>
        </p:nvSpPr>
        <p:spPr>
          <a:xfrm>
            <a:off x="5943600" y="3017520"/>
            <a:ext cx="2560320" cy="1463040"/>
          </a:xfrm>
          <a:prstGeom prst="rect">
            <a:avLst/>
          </a:prstGeom>
          <a:solidFill>
            <a:srgbClr val="FFF3E0"/>
          </a:solidFill>
          <a:ln/>
        </p:spPr>
        <p:txBody>
          <a:bodyPr/>
          <a:lstStyle/>
          <a:p>
            <a:endParaRPr lang="en-US"/>
          </a:p>
        </p:txBody>
      </p:sp>
      <p:sp>
        <p:nvSpPr>
          <p:cNvPr id="25" name="Shape 23"/>
          <p:cNvSpPr/>
          <p:nvPr/>
        </p:nvSpPr>
        <p:spPr>
          <a:xfrm>
            <a:off x="6903720" y="3154680"/>
            <a:ext cx="640080" cy="640080"/>
          </a:xfrm>
          <a:prstGeom prst="ellipse">
            <a:avLst/>
          </a:prstGeom>
          <a:solidFill>
            <a:srgbClr val="FF6600"/>
          </a:solidFill>
          <a:ln/>
        </p:spPr>
        <p:txBody>
          <a:bodyPr/>
          <a:lstStyle/>
          <a:p>
            <a:endParaRPr lang="en-US"/>
          </a:p>
        </p:txBody>
      </p:sp>
      <p:sp>
        <p:nvSpPr>
          <p:cNvPr id="26" name="Text 24"/>
          <p:cNvSpPr/>
          <p:nvPr/>
        </p:nvSpPr>
        <p:spPr>
          <a:xfrm>
            <a:off x="5943600" y="3840480"/>
            <a:ext cx="2560320" cy="320040"/>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Workplace Ethics</a:t>
            </a:r>
            <a:endParaRPr lang="en-US" sz="1400" dirty="0"/>
          </a:p>
        </p:txBody>
      </p:sp>
      <p:sp>
        <p:nvSpPr>
          <p:cNvPr id="27" name="Text 25"/>
          <p:cNvSpPr/>
          <p:nvPr/>
        </p:nvSpPr>
        <p:spPr>
          <a:xfrm>
            <a:off x="5943600" y="4114800"/>
            <a:ext cx="2560320" cy="274320"/>
          </a:xfrm>
          <a:prstGeom prst="rect">
            <a:avLst/>
          </a:prstGeom>
          <a:noFill/>
          <a:ln/>
        </p:spPr>
        <p:txBody>
          <a:bodyPr wrap="square" rtlCol="0" anchor="ctr"/>
          <a:lstStyle/>
          <a:p>
            <a:pPr marL="0" indent="0" algn="ctr">
              <a:buNone/>
            </a:pPr>
            <a:r>
              <a:rPr lang="en-US" sz="1100" dirty="0">
                <a:solidFill>
                  <a:srgbClr val="333333"/>
                </a:solidFill>
                <a:latin typeface="Times New Roman" pitchFamily="34" charset="0"/>
                <a:ea typeface="Times New Roman" pitchFamily="34" charset="-122"/>
                <a:cs typeface="Times New Roman" pitchFamily="34" charset="-120"/>
              </a:rPr>
              <a:t>professional conduct</a:t>
            </a:r>
            <a:endParaRPr lang="en-US" sz="1100" dirty="0"/>
          </a:p>
        </p:txBody>
      </p:sp>
      <p:sp>
        <p:nvSpPr>
          <p:cNvPr id="28" name="Text 26"/>
          <p:cNvSpPr/>
          <p:nvPr/>
        </p:nvSpPr>
        <p:spPr>
          <a:xfrm>
            <a:off x="457200" y="4709160"/>
            <a:ext cx="8229600" cy="320040"/>
          </a:xfrm>
          <a:prstGeom prst="rect">
            <a:avLst/>
          </a:prstGeom>
          <a:noFill/>
          <a:ln/>
        </p:spPr>
        <p:txBody>
          <a:bodyPr wrap="square" rtlCol="0" anchor="ctr"/>
          <a:lstStyle/>
          <a:p>
            <a:pPr marL="0" indent="0" algn="ctr">
              <a:buNone/>
            </a:pPr>
            <a:r>
              <a:rPr lang="en-US" sz="1400" i="1" dirty="0">
                <a:solidFill>
                  <a:srgbClr val="008080"/>
                </a:solidFill>
                <a:latin typeface="Times New Roman" pitchFamily="34" charset="0"/>
                <a:ea typeface="Times New Roman" pitchFamily="34" charset="-122"/>
                <a:cs typeface="Times New Roman" pitchFamily="34" charset="-120"/>
              </a:rPr>
              <a:t>Same methodology, applied to soft skills — truly interdisciplinary credentialing</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808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2600" b="1" dirty="0">
                <a:solidFill>
                  <a:srgbClr val="FFFFFF"/>
                </a:solidFill>
                <a:latin typeface="Times New Roman" pitchFamily="34" charset="0"/>
                <a:ea typeface="Times New Roman" pitchFamily="34" charset="-122"/>
                <a:cs typeface="Times New Roman" pitchFamily="34" charset="-120"/>
              </a:rPr>
              <a:t>Embedding Transformational Skills Across Disciplines</a:t>
            </a:r>
            <a:endParaRPr lang="en-US" sz="2600" dirty="0"/>
          </a:p>
        </p:txBody>
      </p:sp>
      <p:sp>
        <p:nvSpPr>
          <p:cNvPr id="4" name="Text 2"/>
          <p:cNvSpPr/>
          <p:nvPr/>
        </p:nvSpPr>
        <p:spPr>
          <a:xfrm>
            <a:off x="457200" y="1188720"/>
            <a:ext cx="8229600" cy="411480"/>
          </a:xfrm>
          <a:prstGeom prst="rect">
            <a:avLst/>
          </a:prstGeom>
          <a:noFill/>
          <a:ln/>
        </p:spPr>
        <p:txBody>
          <a:bodyPr wrap="square" rtlCol="0" anchor="ctr"/>
          <a:lstStyle/>
          <a:p>
            <a:pPr marL="0" indent="0">
              <a:buNone/>
            </a:pPr>
            <a:r>
              <a:rPr lang="en-US" sz="2000" b="1" dirty="0">
                <a:solidFill>
                  <a:srgbClr val="FF6600"/>
                </a:solidFill>
                <a:latin typeface="Times New Roman" pitchFamily="34" charset="0"/>
                <a:ea typeface="Times New Roman" pitchFamily="34" charset="-122"/>
                <a:cs typeface="Times New Roman" pitchFamily="34" charset="-120"/>
              </a:rPr>
              <a:t>Example: Communication Badge</a:t>
            </a:r>
            <a:endParaRPr lang="en-US" sz="2000" dirty="0"/>
          </a:p>
        </p:txBody>
      </p:sp>
      <p:sp>
        <p:nvSpPr>
          <p:cNvPr id="5" name="Shape 3"/>
          <p:cNvSpPr/>
          <p:nvPr/>
        </p:nvSpPr>
        <p:spPr>
          <a:xfrm>
            <a:off x="457200" y="1691640"/>
            <a:ext cx="3840480" cy="502920"/>
          </a:xfrm>
          <a:prstGeom prst="rect">
            <a:avLst/>
          </a:prstGeom>
          <a:solidFill>
            <a:srgbClr val="E0F2F1"/>
          </a:solidFill>
          <a:ln/>
        </p:spPr>
        <p:txBody>
          <a:bodyPr/>
          <a:lstStyle/>
          <a:p>
            <a:endParaRPr lang="en-US"/>
          </a:p>
        </p:txBody>
      </p:sp>
      <p:sp>
        <p:nvSpPr>
          <p:cNvPr id="6" name="Text 4"/>
          <p:cNvSpPr/>
          <p:nvPr/>
        </p:nvSpPr>
        <p:spPr>
          <a:xfrm>
            <a:off x="640080" y="1691640"/>
            <a:ext cx="3474720" cy="502920"/>
          </a:xfrm>
          <a:prstGeom prst="rect">
            <a:avLst/>
          </a:prstGeom>
          <a:noFill/>
          <a:ln/>
        </p:spPr>
        <p:txBody>
          <a:bodyPr wrap="square" rtlCol="0" anchor="ctr"/>
          <a:lstStyle/>
          <a:p>
            <a:pPr marL="0" indent="0">
              <a:buNone/>
            </a:pPr>
            <a:r>
              <a:rPr lang="en-US" sz="1400" b="1" dirty="0">
                <a:solidFill>
                  <a:srgbClr val="008080"/>
                </a:solidFill>
                <a:latin typeface="Times New Roman" pitchFamily="34" charset="0"/>
                <a:ea typeface="Times New Roman" pitchFamily="34" charset="-122"/>
                <a:cs typeface="Times New Roman" pitchFamily="34" charset="-120"/>
              </a:rPr>
              <a:t>English Composition</a:t>
            </a:r>
            <a:endParaRPr lang="en-US" sz="1400" dirty="0"/>
          </a:p>
        </p:txBody>
      </p:sp>
      <p:sp>
        <p:nvSpPr>
          <p:cNvPr id="7" name="Text 5"/>
          <p:cNvSpPr/>
          <p:nvPr/>
        </p:nvSpPr>
        <p:spPr>
          <a:xfrm>
            <a:off x="4297680" y="1691640"/>
            <a:ext cx="457200" cy="502920"/>
          </a:xfrm>
          <a:prstGeom prst="rect">
            <a:avLst/>
          </a:prstGeom>
          <a:noFill/>
          <a:ln/>
        </p:spPr>
        <p:txBody>
          <a:bodyPr wrap="square" rtlCol="0" anchor="ctr"/>
          <a:lstStyle/>
          <a:p>
            <a:pPr marL="0" indent="0" algn="ctr">
              <a:buNone/>
            </a:pPr>
            <a:r>
              <a:rPr lang="en-US" sz="2000" dirty="0">
                <a:solidFill>
                  <a:srgbClr val="FF6600"/>
                </a:solidFill>
                <a:latin typeface="Times New Roman" pitchFamily="34" charset="0"/>
                <a:ea typeface="Times New Roman" pitchFamily="34" charset="-122"/>
                <a:cs typeface="Times New Roman" pitchFamily="34" charset="-120"/>
              </a:rPr>
              <a:t>→</a:t>
            </a:r>
            <a:endParaRPr lang="en-US" sz="2000" dirty="0"/>
          </a:p>
        </p:txBody>
      </p:sp>
      <p:sp>
        <p:nvSpPr>
          <p:cNvPr id="8" name="Shape 6"/>
          <p:cNvSpPr/>
          <p:nvPr/>
        </p:nvSpPr>
        <p:spPr>
          <a:xfrm>
            <a:off x="4754880" y="1691640"/>
            <a:ext cx="3931920" cy="502920"/>
          </a:xfrm>
          <a:prstGeom prst="rect">
            <a:avLst/>
          </a:prstGeom>
          <a:solidFill>
            <a:srgbClr val="F5F5F5"/>
          </a:solidFill>
          <a:ln/>
        </p:spPr>
        <p:txBody>
          <a:bodyPr/>
          <a:lstStyle/>
          <a:p>
            <a:endParaRPr lang="en-US"/>
          </a:p>
        </p:txBody>
      </p:sp>
      <p:sp>
        <p:nvSpPr>
          <p:cNvPr id="9" name="Text 7"/>
          <p:cNvSpPr/>
          <p:nvPr/>
        </p:nvSpPr>
        <p:spPr>
          <a:xfrm>
            <a:off x="4937760" y="1691640"/>
            <a:ext cx="3657600" cy="502920"/>
          </a:xfrm>
          <a:prstGeom prst="rect">
            <a:avLst/>
          </a:prstGeom>
          <a:noFill/>
          <a:ln/>
        </p:spPr>
        <p:txBody>
          <a:bodyPr wrap="square" rtlCol="0" anchor="ctr"/>
          <a:lstStyle/>
          <a:p>
            <a:pPr marL="0" indent="0">
              <a:buNone/>
            </a:pPr>
            <a:r>
              <a:rPr lang="en-US" sz="1300" dirty="0">
                <a:solidFill>
                  <a:srgbClr val="000000"/>
                </a:solidFill>
                <a:latin typeface="Times New Roman" pitchFamily="34" charset="0"/>
                <a:ea typeface="Times New Roman" pitchFamily="34" charset="-122"/>
                <a:cs typeface="Times New Roman" pitchFamily="34" charset="-120"/>
              </a:rPr>
              <a:t>Written communication rubric</a:t>
            </a:r>
            <a:endParaRPr lang="en-US" sz="1300" dirty="0"/>
          </a:p>
        </p:txBody>
      </p:sp>
      <p:sp>
        <p:nvSpPr>
          <p:cNvPr id="10" name="Shape 8"/>
          <p:cNvSpPr/>
          <p:nvPr/>
        </p:nvSpPr>
        <p:spPr>
          <a:xfrm>
            <a:off x="457200" y="2286000"/>
            <a:ext cx="3840480" cy="502920"/>
          </a:xfrm>
          <a:prstGeom prst="rect">
            <a:avLst/>
          </a:prstGeom>
          <a:solidFill>
            <a:srgbClr val="E0F2F1"/>
          </a:solidFill>
          <a:ln/>
        </p:spPr>
        <p:txBody>
          <a:bodyPr/>
          <a:lstStyle/>
          <a:p>
            <a:endParaRPr lang="en-US"/>
          </a:p>
        </p:txBody>
      </p:sp>
      <p:sp>
        <p:nvSpPr>
          <p:cNvPr id="11" name="Text 9"/>
          <p:cNvSpPr/>
          <p:nvPr/>
        </p:nvSpPr>
        <p:spPr>
          <a:xfrm>
            <a:off x="640080" y="2286000"/>
            <a:ext cx="3474720" cy="502920"/>
          </a:xfrm>
          <a:prstGeom prst="rect">
            <a:avLst/>
          </a:prstGeom>
          <a:noFill/>
          <a:ln/>
        </p:spPr>
        <p:txBody>
          <a:bodyPr wrap="square" rtlCol="0" anchor="ctr"/>
          <a:lstStyle/>
          <a:p>
            <a:pPr marL="0" indent="0">
              <a:buNone/>
            </a:pPr>
            <a:r>
              <a:rPr lang="en-US" sz="1400" b="1" dirty="0">
                <a:solidFill>
                  <a:srgbClr val="008080"/>
                </a:solidFill>
                <a:latin typeface="Times New Roman" pitchFamily="34" charset="0"/>
                <a:ea typeface="Times New Roman" pitchFamily="34" charset="-122"/>
                <a:cs typeface="Times New Roman" pitchFamily="34" charset="-120"/>
              </a:rPr>
              <a:t>Speech</a:t>
            </a:r>
            <a:endParaRPr lang="en-US" sz="1400" dirty="0"/>
          </a:p>
        </p:txBody>
      </p:sp>
      <p:sp>
        <p:nvSpPr>
          <p:cNvPr id="12" name="Text 10"/>
          <p:cNvSpPr/>
          <p:nvPr/>
        </p:nvSpPr>
        <p:spPr>
          <a:xfrm>
            <a:off x="4297680" y="2286000"/>
            <a:ext cx="457200" cy="502920"/>
          </a:xfrm>
          <a:prstGeom prst="rect">
            <a:avLst/>
          </a:prstGeom>
          <a:noFill/>
          <a:ln/>
        </p:spPr>
        <p:txBody>
          <a:bodyPr wrap="square" rtlCol="0" anchor="ctr"/>
          <a:lstStyle/>
          <a:p>
            <a:pPr marL="0" indent="0" algn="ctr">
              <a:buNone/>
            </a:pPr>
            <a:r>
              <a:rPr lang="en-US" sz="2000" dirty="0">
                <a:solidFill>
                  <a:srgbClr val="FF6600"/>
                </a:solidFill>
                <a:latin typeface="Times New Roman" pitchFamily="34" charset="0"/>
                <a:ea typeface="Times New Roman" pitchFamily="34" charset="-122"/>
                <a:cs typeface="Times New Roman" pitchFamily="34" charset="-120"/>
              </a:rPr>
              <a:t>→</a:t>
            </a:r>
            <a:endParaRPr lang="en-US" sz="2000" dirty="0"/>
          </a:p>
        </p:txBody>
      </p:sp>
      <p:sp>
        <p:nvSpPr>
          <p:cNvPr id="13" name="Shape 11"/>
          <p:cNvSpPr/>
          <p:nvPr/>
        </p:nvSpPr>
        <p:spPr>
          <a:xfrm>
            <a:off x="4754880" y="2286000"/>
            <a:ext cx="3931920" cy="502920"/>
          </a:xfrm>
          <a:prstGeom prst="rect">
            <a:avLst/>
          </a:prstGeom>
          <a:solidFill>
            <a:srgbClr val="F5F5F5"/>
          </a:solidFill>
          <a:ln/>
        </p:spPr>
        <p:txBody>
          <a:bodyPr/>
          <a:lstStyle/>
          <a:p>
            <a:endParaRPr lang="en-US"/>
          </a:p>
        </p:txBody>
      </p:sp>
      <p:sp>
        <p:nvSpPr>
          <p:cNvPr id="14" name="Text 12"/>
          <p:cNvSpPr/>
          <p:nvPr/>
        </p:nvSpPr>
        <p:spPr>
          <a:xfrm>
            <a:off x="4937760" y="2286000"/>
            <a:ext cx="3657600" cy="502920"/>
          </a:xfrm>
          <a:prstGeom prst="rect">
            <a:avLst/>
          </a:prstGeom>
          <a:noFill/>
          <a:ln/>
        </p:spPr>
        <p:txBody>
          <a:bodyPr wrap="square" rtlCol="0" anchor="ctr"/>
          <a:lstStyle/>
          <a:p>
            <a:pPr marL="0" indent="0">
              <a:buNone/>
            </a:pPr>
            <a:r>
              <a:rPr lang="en-US" sz="1300" dirty="0">
                <a:solidFill>
                  <a:srgbClr val="000000"/>
                </a:solidFill>
                <a:latin typeface="Times New Roman" pitchFamily="34" charset="0"/>
                <a:ea typeface="Times New Roman" pitchFamily="34" charset="-122"/>
                <a:cs typeface="Times New Roman" pitchFamily="34" charset="-120"/>
              </a:rPr>
              <a:t>Oral presentation rubric</a:t>
            </a:r>
            <a:endParaRPr lang="en-US" sz="1300" dirty="0"/>
          </a:p>
        </p:txBody>
      </p:sp>
      <p:sp>
        <p:nvSpPr>
          <p:cNvPr id="15" name="Shape 13"/>
          <p:cNvSpPr/>
          <p:nvPr/>
        </p:nvSpPr>
        <p:spPr>
          <a:xfrm>
            <a:off x="457200" y="2880360"/>
            <a:ext cx="3840480" cy="502920"/>
          </a:xfrm>
          <a:prstGeom prst="rect">
            <a:avLst/>
          </a:prstGeom>
          <a:solidFill>
            <a:srgbClr val="E0F2F1"/>
          </a:solidFill>
          <a:ln/>
        </p:spPr>
        <p:txBody>
          <a:bodyPr/>
          <a:lstStyle/>
          <a:p>
            <a:endParaRPr lang="en-US"/>
          </a:p>
        </p:txBody>
      </p:sp>
      <p:sp>
        <p:nvSpPr>
          <p:cNvPr id="16" name="Text 14"/>
          <p:cNvSpPr/>
          <p:nvPr/>
        </p:nvSpPr>
        <p:spPr>
          <a:xfrm>
            <a:off x="640080" y="2880360"/>
            <a:ext cx="3474720" cy="502920"/>
          </a:xfrm>
          <a:prstGeom prst="rect">
            <a:avLst/>
          </a:prstGeom>
          <a:noFill/>
          <a:ln/>
        </p:spPr>
        <p:txBody>
          <a:bodyPr wrap="square" rtlCol="0" anchor="ctr"/>
          <a:lstStyle/>
          <a:p>
            <a:pPr marL="0" indent="0">
              <a:buNone/>
            </a:pPr>
            <a:r>
              <a:rPr lang="en-US" sz="1400" b="1" dirty="0">
                <a:solidFill>
                  <a:srgbClr val="008080"/>
                </a:solidFill>
                <a:latin typeface="Times New Roman" pitchFamily="34" charset="0"/>
                <a:ea typeface="Times New Roman" pitchFamily="34" charset="-122"/>
                <a:cs typeface="Times New Roman" pitchFamily="34" charset="-120"/>
              </a:rPr>
              <a:t>Business</a:t>
            </a:r>
            <a:endParaRPr lang="en-US" sz="1400" dirty="0"/>
          </a:p>
        </p:txBody>
      </p:sp>
      <p:sp>
        <p:nvSpPr>
          <p:cNvPr id="17" name="Text 15"/>
          <p:cNvSpPr/>
          <p:nvPr/>
        </p:nvSpPr>
        <p:spPr>
          <a:xfrm>
            <a:off x="4297680" y="2880360"/>
            <a:ext cx="457200" cy="502920"/>
          </a:xfrm>
          <a:prstGeom prst="rect">
            <a:avLst/>
          </a:prstGeom>
          <a:noFill/>
          <a:ln/>
        </p:spPr>
        <p:txBody>
          <a:bodyPr wrap="square" rtlCol="0" anchor="ctr"/>
          <a:lstStyle/>
          <a:p>
            <a:pPr marL="0" indent="0" algn="ctr">
              <a:buNone/>
            </a:pPr>
            <a:r>
              <a:rPr lang="en-US" sz="2000" dirty="0">
                <a:solidFill>
                  <a:srgbClr val="FF6600"/>
                </a:solidFill>
                <a:latin typeface="Times New Roman" pitchFamily="34" charset="0"/>
                <a:ea typeface="Times New Roman" pitchFamily="34" charset="-122"/>
                <a:cs typeface="Times New Roman" pitchFamily="34" charset="-120"/>
              </a:rPr>
              <a:t>→</a:t>
            </a:r>
            <a:endParaRPr lang="en-US" sz="2000" dirty="0"/>
          </a:p>
        </p:txBody>
      </p:sp>
      <p:sp>
        <p:nvSpPr>
          <p:cNvPr id="18" name="Shape 16"/>
          <p:cNvSpPr/>
          <p:nvPr/>
        </p:nvSpPr>
        <p:spPr>
          <a:xfrm>
            <a:off x="4754880" y="2880360"/>
            <a:ext cx="3931920" cy="502920"/>
          </a:xfrm>
          <a:prstGeom prst="rect">
            <a:avLst/>
          </a:prstGeom>
          <a:solidFill>
            <a:srgbClr val="F5F5F5"/>
          </a:solidFill>
          <a:ln/>
        </p:spPr>
        <p:txBody>
          <a:bodyPr/>
          <a:lstStyle/>
          <a:p>
            <a:endParaRPr lang="en-US"/>
          </a:p>
        </p:txBody>
      </p:sp>
      <p:sp>
        <p:nvSpPr>
          <p:cNvPr id="19" name="Text 17"/>
          <p:cNvSpPr/>
          <p:nvPr/>
        </p:nvSpPr>
        <p:spPr>
          <a:xfrm>
            <a:off x="4937760" y="2880360"/>
            <a:ext cx="3657600" cy="502920"/>
          </a:xfrm>
          <a:prstGeom prst="rect">
            <a:avLst/>
          </a:prstGeom>
          <a:noFill/>
          <a:ln/>
        </p:spPr>
        <p:txBody>
          <a:bodyPr wrap="square" rtlCol="0" anchor="ctr"/>
          <a:lstStyle/>
          <a:p>
            <a:pPr marL="0" indent="0">
              <a:buNone/>
            </a:pPr>
            <a:r>
              <a:rPr lang="en-US" sz="1300" dirty="0">
                <a:solidFill>
                  <a:srgbClr val="000000"/>
                </a:solidFill>
                <a:latin typeface="Times New Roman" pitchFamily="34" charset="0"/>
                <a:ea typeface="Times New Roman" pitchFamily="34" charset="-122"/>
                <a:cs typeface="Times New Roman" pitchFamily="34" charset="-120"/>
              </a:rPr>
              <a:t>Professional email and memo rubric</a:t>
            </a:r>
            <a:endParaRPr lang="en-US" sz="1300" dirty="0"/>
          </a:p>
        </p:txBody>
      </p:sp>
      <p:sp>
        <p:nvSpPr>
          <p:cNvPr id="20" name="Shape 18"/>
          <p:cNvSpPr/>
          <p:nvPr/>
        </p:nvSpPr>
        <p:spPr>
          <a:xfrm>
            <a:off x="457200" y="3474720"/>
            <a:ext cx="3840480" cy="502920"/>
          </a:xfrm>
          <a:prstGeom prst="rect">
            <a:avLst/>
          </a:prstGeom>
          <a:solidFill>
            <a:srgbClr val="E0F2F1"/>
          </a:solidFill>
          <a:ln/>
        </p:spPr>
        <p:txBody>
          <a:bodyPr/>
          <a:lstStyle/>
          <a:p>
            <a:endParaRPr lang="en-US"/>
          </a:p>
        </p:txBody>
      </p:sp>
      <p:sp>
        <p:nvSpPr>
          <p:cNvPr id="21" name="Text 19"/>
          <p:cNvSpPr/>
          <p:nvPr/>
        </p:nvSpPr>
        <p:spPr>
          <a:xfrm>
            <a:off x="640080" y="3474720"/>
            <a:ext cx="3474720" cy="502920"/>
          </a:xfrm>
          <a:prstGeom prst="rect">
            <a:avLst/>
          </a:prstGeom>
          <a:noFill/>
          <a:ln/>
        </p:spPr>
        <p:txBody>
          <a:bodyPr wrap="square" rtlCol="0" anchor="ctr"/>
          <a:lstStyle/>
          <a:p>
            <a:pPr marL="0" indent="0">
              <a:buNone/>
            </a:pPr>
            <a:r>
              <a:rPr lang="en-US" sz="1400" b="1" dirty="0">
                <a:solidFill>
                  <a:srgbClr val="008080"/>
                </a:solidFill>
                <a:latin typeface="Times New Roman" pitchFamily="34" charset="0"/>
                <a:ea typeface="Times New Roman" pitchFamily="34" charset="-122"/>
                <a:cs typeface="Times New Roman" pitchFamily="34" charset="-120"/>
              </a:rPr>
              <a:t>Any Capstone</a:t>
            </a:r>
            <a:endParaRPr lang="en-US" sz="1400" dirty="0"/>
          </a:p>
        </p:txBody>
      </p:sp>
      <p:sp>
        <p:nvSpPr>
          <p:cNvPr id="22" name="Text 20"/>
          <p:cNvSpPr/>
          <p:nvPr/>
        </p:nvSpPr>
        <p:spPr>
          <a:xfrm>
            <a:off x="4297680" y="3474720"/>
            <a:ext cx="457200" cy="502920"/>
          </a:xfrm>
          <a:prstGeom prst="rect">
            <a:avLst/>
          </a:prstGeom>
          <a:noFill/>
          <a:ln/>
        </p:spPr>
        <p:txBody>
          <a:bodyPr wrap="square" rtlCol="0" anchor="ctr"/>
          <a:lstStyle/>
          <a:p>
            <a:pPr marL="0" indent="0" algn="ctr">
              <a:buNone/>
            </a:pPr>
            <a:r>
              <a:rPr lang="en-US" sz="2000" dirty="0">
                <a:solidFill>
                  <a:srgbClr val="FF6600"/>
                </a:solidFill>
                <a:latin typeface="Times New Roman" pitchFamily="34" charset="0"/>
                <a:ea typeface="Times New Roman" pitchFamily="34" charset="-122"/>
                <a:cs typeface="Times New Roman" pitchFamily="34" charset="-120"/>
              </a:rPr>
              <a:t>→</a:t>
            </a:r>
            <a:endParaRPr lang="en-US" sz="2000" dirty="0"/>
          </a:p>
        </p:txBody>
      </p:sp>
      <p:sp>
        <p:nvSpPr>
          <p:cNvPr id="23" name="Shape 21"/>
          <p:cNvSpPr/>
          <p:nvPr/>
        </p:nvSpPr>
        <p:spPr>
          <a:xfrm>
            <a:off x="4754880" y="3474720"/>
            <a:ext cx="3931920" cy="502920"/>
          </a:xfrm>
          <a:prstGeom prst="rect">
            <a:avLst/>
          </a:prstGeom>
          <a:solidFill>
            <a:srgbClr val="F5F5F5"/>
          </a:solidFill>
          <a:ln/>
        </p:spPr>
        <p:txBody>
          <a:bodyPr/>
          <a:lstStyle/>
          <a:p>
            <a:endParaRPr lang="en-US"/>
          </a:p>
        </p:txBody>
      </p:sp>
      <p:sp>
        <p:nvSpPr>
          <p:cNvPr id="24" name="Text 22"/>
          <p:cNvSpPr/>
          <p:nvPr/>
        </p:nvSpPr>
        <p:spPr>
          <a:xfrm>
            <a:off x="4937760" y="3474720"/>
            <a:ext cx="3657600" cy="502920"/>
          </a:xfrm>
          <a:prstGeom prst="rect">
            <a:avLst/>
          </a:prstGeom>
          <a:noFill/>
          <a:ln/>
        </p:spPr>
        <p:txBody>
          <a:bodyPr wrap="square" rtlCol="0" anchor="ctr"/>
          <a:lstStyle/>
          <a:p>
            <a:pPr marL="0" indent="0">
              <a:buNone/>
            </a:pPr>
            <a:r>
              <a:rPr lang="en-US" sz="1300" dirty="0">
                <a:solidFill>
                  <a:srgbClr val="000000"/>
                </a:solidFill>
                <a:latin typeface="Times New Roman" pitchFamily="34" charset="0"/>
                <a:ea typeface="Times New Roman" pitchFamily="34" charset="-122"/>
                <a:cs typeface="Times New Roman" pitchFamily="34" charset="-120"/>
              </a:rPr>
              <a:t>Comprehensive communication portfolio</a:t>
            </a:r>
            <a:endParaRPr lang="en-US" sz="1300" dirty="0"/>
          </a:p>
        </p:txBody>
      </p:sp>
      <p:sp>
        <p:nvSpPr>
          <p:cNvPr id="25" name="Shape 23"/>
          <p:cNvSpPr/>
          <p:nvPr/>
        </p:nvSpPr>
        <p:spPr>
          <a:xfrm>
            <a:off x="914400" y="4297680"/>
            <a:ext cx="7315200" cy="685800"/>
          </a:xfrm>
          <a:prstGeom prst="rect">
            <a:avLst/>
          </a:prstGeom>
          <a:solidFill>
            <a:srgbClr val="FF6600"/>
          </a:solidFill>
          <a:ln/>
        </p:spPr>
        <p:txBody>
          <a:bodyPr/>
          <a:lstStyle/>
          <a:p>
            <a:endParaRPr lang="en-US"/>
          </a:p>
        </p:txBody>
      </p:sp>
      <p:sp>
        <p:nvSpPr>
          <p:cNvPr id="26" name="Text 24"/>
          <p:cNvSpPr/>
          <p:nvPr/>
        </p:nvSpPr>
        <p:spPr>
          <a:xfrm>
            <a:off x="914400" y="4297680"/>
            <a:ext cx="7315200" cy="685800"/>
          </a:xfrm>
          <a:prstGeom prst="rect">
            <a:avLst/>
          </a:prstGeom>
          <a:noFill/>
          <a:ln/>
        </p:spPr>
        <p:txBody>
          <a:bodyPr wrap="square"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One badge, multiple pathways to earn it</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F660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3000" b="1" dirty="0">
                <a:solidFill>
                  <a:srgbClr val="FFFFFF"/>
                </a:solidFill>
                <a:latin typeface="Times New Roman" pitchFamily="34" charset="0"/>
                <a:ea typeface="Times New Roman" pitchFamily="34" charset="-122"/>
                <a:cs typeface="Times New Roman" pitchFamily="34" charset="-120"/>
              </a:rPr>
              <a:t>Why This Scales: AI-Assisted Development</a:t>
            </a:r>
            <a:endParaRPr lang="en-US" sz="3000" dirty="0"/>
          </a:p>
        </p:txBody>
      </p:sp>
      <p:sp>
        <p:nvSpPr>
          <p:cNvPr id="4" name="Shape 2"/>
          <p:cNvSpPr/>
          <p:nvPr/>
        </p:nvSpPr>
        <p:spPr>
          <a:xfrm>
            <a:off x="457200" y="1188720"/>
            <a:ext cx="3931920" cy="3383280"/>
          </a:xfrm>
          <a:prstGeom prst="rect">
            <a:avLst/>
          </a:prstGeom>
          <a:solidFill>
            <a:srgbClr val="E0F2F1"/>
          </a:solidFill>
          <a:ln/>
        </p:spPr>
        <p:txBody>
          <a:bodyPr/>
          <a:lstStyle/>
          <a:p>
            <a:endParaRPr lang="en-US"/>
          </a:p>
        </p:txBody>
      </p:sp>
      <p:sp>
        <p:nvSpPr>
          <p:cNvPr id="5" name="Shape 3"/>
          <p:cNvSpPr/>
          <p:nvPr/>
        </p:nvSpPr>
        <p:spPr>
          <a:xfrm>
            <a:off x="2011680" y="1325880"/>
            <a:ext cx="640080" cy="640080"/>
          </a:xfrm>
          <a:prstGeom prst="ellipse">
            <a:avLst/>
          </a:prstGeom>
          <a:solidFill>
            <a:srgbClr val="008080"/>
          </a:solidFill>
          <a:ln/>
        </p:spPr>
        <p:txBody>
          <a:bodyPr/>
          <a:lstStyle/>
          <a:p>
            <a:endParaRPr lang="en-US"/>
          </a:p>
        </p:txBody>
      </p:sp>
      <p:sp>
        <p:nvSpPr>
          <p:cNvPr id="6" name="Text 4"/>
          <p:cNvSpPr/>
          <p:nvPr/>
        </p:nvSpPr>
        <p:spPr>
          <a:xfrm>
            <a:off x="2011680" y="1325880"/>
            <a:ext cx="640080" cy="640080"/>
          </a:xfrm>
          <a:prstGeom prst="rect">
            <a:avLst/>
          </a:prstGeom>
          <a:noFill/>
          <a:ln/>
        </p:spPr>
        <p:txBody>
          <a:bodyPr wrap="square"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AI</a:t>
            </a:r>
            <a:endParaRPr lang="en-US" sz="1600" dirty="0"/>
          </a:p>
        </p:txBody>
      </p:sp>
      <p:sp>
        <p:nvSpPr>
          <p:cNvPr id="7" name="Text 5"/>
          <p:cNvSpPr/>
          <p:nvPr/>
        </p:nvSpPr>
        <p:spPr>
          <a:xfrm>
            <a:off x="457200" y="2011680"/>
            <a:ext cx="3931920" cy="365760"/>
          </a:xfrm>
          <a:prstGeom prst="rect">
            <a:avLst/>
          </a:prstGeom>
          <a:noFill/>
          <a:ln/>
        </p:spPr>
        <p:txBody>
          <a:bodyPr wrap="square" rtlCol="0" anchor="ctr"/>
          <a:lstStyle/>
          <a:p>
            <a:pPr marL="0" indent="0" algn="ctr">
              <a:buNone/>
            </a:pPr>
            <a:r>
              <a:rPr lang="en-US" sz="1600" b="1" dirty="0">
                <a:solidFill>
                  <a:srgbClr val="008080"/>
                </a:solidFill>
                <a:latin typeface="Times New Roman" pitchFamily="34" charset="0"/>
                <a:ea typeface="Times New Roman" pitchFamily="34" charset="-122"/>
                <a:cs typeface="Times New Roman" pitchFamily="34" charset="-120"/>
              </a:rPr>
              <a:t>What AI Provides</a:t>
            </a:r>
            <a:endParaRPr lang="en-US" sz="1600" dirty="0"/>
          </a:p>
        </p:txBody>
      </p:sp>
      <p:sp>
        <p:nvSpPr>
          <p:cNvPr id="8" name="Text 6"/>
          <p:cNvSpPr/>
          <p:nvPr/>
        </p:nvSpPr>
        <p:spPr>
          <a:xfrm>
            <a:off x="640080" y="2468880"/>
            <a:ext cx="3657600" cy="2011680"/>
          </a:xfrm>
          <a:prstGeom prst="rect">
            <a:avLst/>
          </a:prstGeom>
          <a:noFill/>
          <a:ln/>
        </p:spPr>
        <p:txBody>
          <a:bodyPr wrap="square" rtlCol="0" anchor="ctr"/>
          <a:lstStyle/>
          <a:p>
            <a:pPr marL="342900" indent="-342900">
              <a:spcAft>
                <a:spcPts val="8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Skill identification from course outcomes</a:t>
            </a:r>
            <a:endParaRPr lang="en-US" sz="1200" dirty="0"/>
          </a:p>
          <a:p>
            <a:pPr marL="342900" indent="-342900">
              <a:spcAft>
                <a:spcPts val="8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Assessment option generation</a:t>
            </a:r>
            <a:endParaRPr lang="en-US" sz="1200" dirty="0"/>
          </a:p>
          <a:p>
            <a:pPr marL="342900" indent="-342900">
              <a:spcAft>
                <a:spcPts val="8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Rubric creation (single-point recommended)</a:t>
            </a:r>
            <a:endParaRPr lang="en-US" sz="1200" dirty="0"/>
          </a:p>
          <a:p>
            <a:pPr marL="342900" indent="-342900">
              <a:spcAft>
                <a:spcPts val="8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Sample student work for calibration</a:t>
            </a:r>
            <a:endParaRPr lang="en-US" sz="1200" dirty="0"/>
          </a:p>
          <a:p>
            <a:pPr marL="342900" indent="-342900">
              <a:spcAft>
                <a:spcPts val="8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Feedback language for evaluations</a:t>
            </a:r>
            <a:endParaRPr lang="en-US" sz="1200" dirty="0"/>
          </a:p>
        </p:txBody>
      </p:sp>
      <p:sp>
        <p:nvSpPr>
          <p:cNvPr id="9" name="Shape 7"/>
          <p:cNvSpPr/>
          <p:nvPr/>
        </p:nvSpPr>
        <p:spPr>
          <a:xfrm>
            <a:off x="4754880" y="1188720"/>
            <a:ext cx="3931920" cy="3383280"/>
          </a:xfrm>
          <a:prstGeom prst="rect">
            <a:avLst/>
          </a:prstGeom>
          <a:solidFill>
            <a:srgbClr val="FFF3E0"/>
          </a:solidFill>
          <a:ln/>
        </p:spPr>
        <p:txBody>
          <a:bodyPr/>
          <a:lstStyle/>
          <a:p>
            <a:endParaRPr lang="en-US"/>
          </a:p>
        </p:txBody>
      </p:sp>
      <p:sp>
        <p:nvSpPr>
          <p:cNvPr id="10" name="Shape 8"/>
          <p:cNvSpPr/>
          <p:nvPr/>
        </p:nvSpPr>
        <p:spPr>
          <a:xfrm>
            <a:off x="6309360" y="1325880"/>
            <a:ext cx="640080" cy="640080"/>
          </a:xfrm>
          <a:prstGeom prst="ellipse">
            <a:avLst/>
          </a:prstGeom>
          <a:solidFill>
            <a:srgbClr val="FF6600"/>
          </a:solidFill>
          <a:ln/>
        </p:spPr>
        <p:txBody>
          <a:bodyPr/>
          <a:lstStyle/>
          <a:p>
            <a:endParaRPr lang="en-US"/>
          </a:p>
        </p:txBody>
      </p:sp>
      <p:sp>
        <p:nvSpPr>
          <p:cNvPr id="11" name="Text 9"/>
          <p:cNvSpPr/>
          <p:nvPr/>
        </p:nvSpPr>
        <p:spPr>
          <a:xfrm>
            <a:off x="6309360" y="1325880"/>
            <a:ext cx="640080" cy="640080"/>
          </a:xfrm>
          <a:prstGeom prst="rect">
            <a:avLst/>
          </a:prstGeom>
          <a:noFill/>
          <a:ln/>
        </p:spPr>
        <p:txBody>
          <a:bodyPr wrap="square" rtlCol="0" anchor="ctr"/>
          <a:lstStyle/>
          <a:p>
            <a:pPr marL="0" indent="0" algn="ctr">
              <a:buNone/>
            </a:pPr>
            <a:r>
              <a:rPr lang="en-US" sz="2000" dirty="0">
                <a:solidFill>
                  <a:srgbClr val="FFFFFF"/>
                </a:solidFill>
                <a:latin typeface="Times New Roman" pitchFamily="34" charset="0"/>
                <a:ea typeface="Times New Roman" pitchFamily="34" charset="-122"/>
                <a:cs typeface="Times New Roman" pitchFamily="34" charset="-120"/>
              </a:rPr>
              <a:t>👤</a:t>
            </a:r>
            <a:endParaRPr lang="en-US" sz="2000" dirty="0"/>
          </a:p>
        </p:txBody>
      </p:sp>
      <p:sp>
        <p:nvSpPr>
          <p:cNvPr id="12" name="Text 10"/>
          <p:cNvSpPr/>
          <p:nvPr/>
        </p:nvSpPr>
        <p:spPr>
          <a:xfrm>
            <a:off x="4754880" y="2011680"/>
            <a:ext cx="3931920" cy="365760"/>
          </a:xfrm>
          <a:prstGeom prst="rect">
            <a:avLst/>
          </a:prstGeom>
          <a:noFill/>
          <a:ln/>
        </p:spPr>
        <p:txBody>
          <a:bodyPr wrap="square" rtlCol="0" anchor="ctr"/>
          <a:lstStyle/>
          <a:p>
            <a:pPr marL="0" indent="0" algn="ctr">
              <a:buNone/>
            </a:pPr>
            <a:r>
              <a:rPr lang="en-US" sz="1600" b="1" dirty="0">
                <a:solidFill>
                  <a:srgbClr val="FF6600"/>
                </a:solidFill>
                <a:latin typeface="Times New Roman" pitchFamily="34" charset="0"/>
                <a:ea typeface="Times New Roman" pitchFamily="34" charset="-122"/>
                <a:cs typeface="Times New Roman" pitchFamily="34" charset="-120"/>
              </a:rPr>
              <a:t>What Humans Provide</a:t>
            </a:r>
            <a:endParaRPr lang="en-US" sz="1600" dirty="0"/>
          </a:p>
        </p:txBody>
      </p:sp>
      <p:sp>
        <p:nvSpPr>
          <p:cNvPr id="13" name="Text 11"/>
          <p:cNvSpPr/>
          <p:nvPr/>
        </p:nvSpPr>
        <p:spPr>
          <a:xfrm>
            <a:off x="4937760" y="2468880"/>
            <a:ext cx="3657600" cy="1828800"/>
          </a:xfrm>
          <a:prstGeom prst="rect">
            <a:avLst/>
          </a:prstGeom>
          <a:noFill/>
          <a:ln/>
        </p:spPr>
        <p:txBody>
          <a:bodyPr wrap="square" rtlCol="0" anchor="ctr"/>
          <a:lstStyle/>
          <a:p>
            <a:pPr marL="342900" indent="-342900">
              <a:spcAft>
                <a:spcPts val="8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Disciplinary expertise and judgment</a:t>
            </a:r>
            <a:endParaRPr lang="en-US" sz="1200" dirty="0"/>
          </a:p>
          <a:p>
            <a:pPr marL="342900" indent="-342900">
              <a:spcAft>
                <a:spcPts val="8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Final approval of all criteria</a:t>
            </a:r>
            <a:endParaRPr lang="en-US" sz="1200" dirty="0"/>
          </a:p>
          <a:p>
            <a:pPr marL="342900" indent="-342900">
              <a:spcAft>
                <a:spcPts val="8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Actual assessment of student work</a:t>
            </a:r>
            <a:endParaRPr lang="en-US" sz="1200" dirty="0"/>
          </a:p>
          <a:p>
            <a:pPr marL="342900" indent="-342900">
              <a:spcAft>
                <a:spcPts val="8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Badge issuance decisions</a:t>
            </a:r>
            <a:endParaRPr lang="en-US" sz="1200" dirty="0"/>
          </a:p>
        </p:txBody>
      </p:sp>
      <p:sp>
        <p:nvSpPr>
          <p:cNvPr id="14" name="Text 12"/>
          <p:cNvSpPr/>
          <p:nvPr/>
        </p:nvSpPr>
        <p:spPr>
          <a:xfrm>
            <a:off x="457200" y="4709160"/>
            <a:ext cx="8229600" cy="320040"/>
          </a:xfrm>
          <a:prstGeom prst="rect">
            <a:avLst/>
          </a:prstGeom>
          <a:noFill/>
          <a:ln/>
        </p:spPr>
        <p:txBody>
          <a:bodyPr wrap="square" rtlCol="0" anchor="ctr"/>
          <a:lstStyle/>
          <a:p>
            <a:pPr marL="0" indent="0" algn="ctr">
              <a:buNone/>
            </a:pPr>
            <a:r>
              <a:rPr lang="en-US" sz="1400" i="1" dirty="0">
                <a:solidFill>
                  <a:srgbClr val="000000"/>
                </a:solidFill>
                <a:latin typeface="Times New Roman" pitchFamily="34" charset="0"/>
                <a:ea typeface="Times New Roman" pitchFamily="34" charset="-122"/>
                <a:cs typeface="Times New Roman" pitchFamily="34" charset="-120"/>
              </a:rPr>
              <a:t>AI proposes; faculty dispose — 80% faster development without sacrificing quality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808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3000" b="1" dirty="0">
                <a:solidFill>
                  <a:srgbClr val="FFFFFF"/>
                </a:solidFill>
                <a:latin typeface="Times New Roman" pitchFamily="34" charset="0"/>
                <a:ea typeface="Times New Roman" pitchFamily="34" charset="-122"/>
                <a:cs typeface="Times New Roman" pitchFamily="34" charset="-120"/>
              </a:rPr>
              <a:t>Supporting Transformational Skills Badges</a:t>
            </a:r>
            <a:endParaRPr lang="en-US" sz="3000" dirty="0"/>
          </a:p>
        </p:txBody>
      </p:sp>
      <p:sp>
        <p:nvSpPr>
          <p:cNvPr id="4" name="Shape 2"/>
          <p:cNvSpPr/>
          <p:nvPr/>
        </p:nvSpPr>
        <p:spPr>
          <a:xfrm>
            <a:off x="640080" y="1298448"/>
            <a:ext cx="320040" cy="320040"/>
          </a:xfrm>
          <a:prstGeom prst="ellipse">
            <a:avLst/>
          </a:prstGeom>
          <a:solidFill>
            <a:srgbClr val="FF6600"/>
          </a:solidFill>
          <a:ln/>
        </p:spPr>
        <p:txBody>
          <a:bodyPr/>
          <a:lstStyle/>
          <a:p>
            <a:endParaRPr lang="en-US"/>
          </a:p>
        </p:txBody>
      </p:sp>
      <p:sp>
        <p:nvSpPr>
          <p:cNvPr id="5" name="Text 3"/>
          <p:cNvSpPr/>
          <p:nvPr/>
        </p:nvSpPr>
        <p:spPr>
          <a:xfrm>
            <a:off x="640080" y="1298448"/>
            <a:ext cx="320040" cy="320040"/>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1</a:t>
            </a:r>
            <a:endParaRPr lang="en-US" sz="1200" dirty="0"/>
          </a:p>
        </p:txBody>
      </p:sp>
      <p:sp>
        <p:nvSpPr>
          <p:cNvPr id="6" name="Text 4"/>
          <p:cNvSpPr/>
          <p:nvPr/>
        </p:nvSpPr>
        <p:spPr>
          <a:xfrm>
            <a:off x="1097280" y="1234440"/>
            <a:ext cx="7315200" cy="457200"/>
          </a:xfrm>
          <a:prstGeom prst="rect">
            <a:avLst/>
          </a:prstGeom>
          <a:noFill/>
          <a:ln/>
        </p:spPr>
        <p:txBody>
          <a:bodyPr wrap="square" rtlCol="0" anchor="ctr"/>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Task Force identification of priority skills</a:t>
            </a:r>
            <a:endParaRPr lang="en-US" sz="1600" dirty="0"/>
          </a:p>
        </p:txBody>
      </p:sp>
      <p:sp>
        <p:nvSpPr>
          <p:cNvPr id="7" name="Shape 5"/>
          <p:cNvSpPr/>
          <p:nvPr/>
        </p:nvSpPr>
        <p:spPr>
          <a:xfrm>
            <a:off x="640080" y="1847088"/>
            <a:ext cx="320040" cy="320040"/>
          </a:xfrm>
          <a:prstGeom prst="ellipse">
            <a:avLst/>
          </a:prstGeom>
          <a:solidFill>
            <a:srgbClr val="FF6600"/>
          </a:solidFill>
          <a:ln/>
        </p:spPr>
        <p:txBody>
          <a:bodyPr/>
          <a:lstStyle/>
          <a:p>
            <a:endParaRPr lang="en-US"/>
          </a:p>
        </p:txBody>
      </p:sp>
      <p:sp>
        <p:nvSpPr>
          <p:cNvPr id="8" name="Text 6"/>
          <p:cNvSpPr/>
          <p:nvPr/>
        </p:nvSpPr>
        <p:spPr>
          <a:xfrm>
            <a:off x="640080" y="1847088"/>
            <a:ext cx="320040" cy="320040"/>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2</a:t>
            </a:r>
            <a:endParaRPr lang="en-US" sz="1200" dirty="0"/>
          </a:p>
        </p:txBody>
      </p:sp>
      <p:sp>
        <p:nvSpPr>
          <p:cNvPr id="9" name="Text 7"/>
          <p:cNvSpPr/>
          <p:nvPr/>
        </p:nvSpPr>
        <p:spPr>
          <a:xfrm>
            <a:off x="1097280" y="1783080"/>
            <a:ext cx="7315200" cy="457200"/>
          </a:xfrm>
          <a:prstGeom prst="rect">
            <a:avLst/>
          </a:prstGeom>
          <a:noFill/>
          <a:ln/>
        </p:spPr>
        <p:txBody>
          <a:bodyPr wrap="square" rtlCol="0" anchor="ctr"/>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Faculty champions in each discipline</a:t>
            </a:r>
            <a:endParaRPr lang="en-US" sz="1600" dirty="0"/>
          </a:p>
        </p:txBody>
      </p:sp>
      <p:sp>
        <p:nvSpPr>
          <p:cNvPr id="10" name="Shape 8"/>
          <p:cNvSpPr/>
          <p:nvPr/>
        </p:nvSpPr>
        <p:spPr>
          <a:xfrm>
            <a:off x="640080" y="2395728"/>
            <a:ext cx="320040" cy="320040"/>
          </a:xfrm>
          <a:prstGeom prst="ellipse">
            <a:avLst/>
          </a:prstGeom>
          <a:solidFill>
            <a:srgbClr val="FF6600"/>
          </a:solidFill>
          <a:ln/>
        </p:spPr>
        <p:txBody>
          <a:bodyPr/>
          <a:lstStyle/>
          <a:p>
            <a:endParaRPr lang="en-US"/>
          </a:p>
        </p:txBody>
      </p:sp>
      <p:sp>
        <p:nvSpPr>
          <p:cNvPr id="11" name="Text 9"/>
          <p:cNvSpPr/>
          <p:nvPr/>
        </p:nvSpPr>
        <p:spPr>
          <a:xfrm>
            <a:off x="640080" y="2395728"/>
            <a:ext cx="320040" cy="320040"/>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3</a:t>
            </a:r>
            <a:endParaRPr lang="en-US" sz="1200" dirty="0"/>
          </a:p>
        </p:txBody>
      </p:sp>
      <p:sp>
        <p:nvSpPr>
          <p:cNvPr id="12" name="Text 10"/>
          <p:cNvSpPr/>
          <p:nvPr/>
        </p:nvSpPr>
        <p:spPr>
          <a:xfrm>
            <a:off x="1097280" y="2331720"/>
            <a:ext cx="7315200" cy="457200"/>
          </a:xfrm>
          <a:prstGeom prst="rect">
            <a:avLst/>
          </a:prstGeom>
          <a:noFill/>
          <a:ln/>
        </p:spPr>
        <p:txBody>
          <a:bodyPr wrap="square" rtlCol="0" anchor="ctr"/>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Rubric development (AI-assisted, faculty-approved)</a:t>
            </a:r>
            <a:endParaRPr lang="en-US" sz="1600" dirty="0"/>
          </a:p>
        </p:txBody>
      </p:sp>
      <p:sp>
        <p:nvSpPr>
          <p:cNvPr id="13" name="Shape 11"/>
          <p:cNvSpPr/>
          <p:nvPr/>
        </p:nvSpPr>
        <p:spPr>
          <a:xfrm>
            <a:off x="640080" y="2944368"/>
            <a:ext cx="320040" cy="320040"/>
          </a:xfrm>
          <a:prstGeom prst="ellipse">
            <a:avLst/>
          </a:prstGeom>
          <a:solidFill>
            <a:srgbClr val="008080"/>
          </a:solidFill>
          <a:ln/>
        </p:spPr>
        <p:txBody>
          <a:bodyPr/>
          <a:lstStyle/>
          <a:p>
            <a:endParaRPr lang="en-US"/>
          </a:p>
        </p:txBody>
      </p:sp>
      <p:sp>
        <p:nvSpPr>
          <p:cNvPr id="14" name="Text 12"/>
          <p:cNvSpPr/>
          <p:nvPr/>
        </p:nvSpPr>
        <p:spPr>
          <a:xfrm>
            <a:off x="640080" y="2944368"/>
            <a:ext cx="320040" cy="320040"/>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4</a:t>
            </a:r>
            <a:endParaRPr lang="en-US" sz="1200" dirty="0"/>
          </a:p>
        </p:txBody>
      </p:sp>
      <p:sp>
        <p:nvSpPr>
          <p:cNvPr id="15" name="Text 13"/>
          <p:cNvSpPr/>
          <p:nvPr/>
        </p:nvSpPr>
        <p:spPr>
          <a:xfrm>
            <a:off x="1097280" y="2880360"/>
            <a:ext cx="7315200" cy="457200"/>
          </a:xfrm>
          <a:prstGeom prst="rect">
            <a:avLst/>
          </a:prstGeom>
          <a:noFill/>
          <a:ln/>
        </p:spPr>
        <p:txBody>
          <a:bodyPr wrap="square" rtlCol="0" anchor="ctr"/>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Pilot courses for initial implementation</a:t>
            </a:r>
            <a:endParaRPr lang="en-US" sz="1600" dirty="0"/>
          </a:p>
        </p:txBody>
      </p:sp>
      <p:sp>
        <p:nvSpPr>
          <p:cNvPr id="16" name="Shape 14"/>
          <p:cNvSpPr/>
          <p:nvPr/>
        </p:nvSpPr>
        <p:spPr>
          <a:xfrm>
            <a:off x="640080" y="3493008"/>
            <a:ext cx="320040" cy="320040"/>
          </a:xfrm>
          <a:prstGeom prst="ellipse">
            <a:avLst/>
          </a:prstGeom>
          <a:solidFill>
            <a:srgbClr val="008080"/>
          </a:solidFill>
          <a:ln/>
        </p:spPr>
        <p:txBody>
          <a:bodyPr/>
          <a:lstStyle/>
          <a:p>
            <a:endParaRPr lang="en-US"/>
          </a:p>
        </p:txBody>
      </p:sp>
      <p:sp>
        <p:nvSpPr>
          <p:cNvPr id="17" name="Text 15"/>
          <p:cNvSpPr/>
          <p:nvPr/>
        </p:nvSpPr>
        <p:spPr>
          <a:xfrm>
            <a:off x="640080" y="3493008"/>
            <a:ext cx="320040" cy="320040"/>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5</a:t>
            </a:r>
            <a:endParaRPr lang="en-US" sz="1200" dirty="0"/>
          </a:p>
        </p:txBody>
      </p:sp>
      <p:sp>
        <p:nvSpPr>
          <p:cNvPr id="18" name="Text 16"/>
          <p:cNvSpPr/>
          <p:nvPr/>
        </p:nvSpPr>
        <p:spPr>
          <a:xfrm>
            <a:off x="1097280" y="3429000"/>
            <a:ext cx="7315200" cy="457200"/>
          </a:xfrm>
          <a:prstGeom prst="rect">
            <a:avLst/>
          </a:prstGeom>
          <a:noFill/>
          <a:ln/>
        </p:spPr>
        <p:txBody>
          <a:bodyPr wrap="square" rtlCol="0" anchor="ctr"/>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Assessment and iteration cycle</a:t>
            </a:r>
            <a:endParaRPr lang="en-US" sz="1600" dirty="0"/>
          </a:p>
        </p:txBody>
      </p:sp>
      <p:sp>
        <p:nvSpPr>
          <p:cNvPr id="19" name="Shape 17"/>
          <p:cNvSpPr/>
          <p:nvPr/>
        </p:nvSpPr>
        <p:spPr>
          <a:xfrm>
            <a:off x="640080" y="4041648"/>
            <a:ext cx="320040" cy="320040"/>
          </a:xfrm>
          <a:prstGeom prst="ellipse">
            <a:avLst/>
          </a:prstGeom>
          <a:solidFill>
            <a:srgbClr val="008080"/>
          </a:solidFill>
          <a:ln/>
        </p:spPr>
        <p:txBody>
          <a:bodyPr/>
          <a:lstStyle/>
          <a:p>
            <a:endParaRPr lang="en-US"/>
          </a:p>
        </p:txBody>
      </p:sp>
      <p:sp>
        <p:nvSpPr>
          <p:cNvPr id="20" name="Text 18"/>
          <p:cNvSpPr/>
          <p:nvPr/>
        </p:nvSpPr>
        <p:spPr>
          <a:xfrm>
            <a:off x="640080" y="4041648"/>
            <a:ext cx="320040" cy="320040"/>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6</a:t>
            </a:r>
            <a:endParaRPr lang="en-US" sz="1200" dirty="0"/>
          </a:p>
        </p:txBody>
      </p:sp>
      <p:sp>
        <p:nvSpPr>
          <p:cNvPr id="21" name="Text 19"/>
          <p:cNvSpPr/>
          <p:nvPr/>
        </p:nvSpPr>
        <p:spPr>
          <a:xfrm>
            <a:off x="1097280" y="3977640"/>
            <a:ext cx="7315200" cy="457200"/>
          </a:xfrm>
          <a:prstGeom prst="rect">
            <a:avLst/>
          </a:prstGeom>
          <a:noFill/>
          <a:ln/>
        </p:spPr>
        <p:txBody>
          <a:bodyPr wrap="square" rtlCol="0" anchor="ctr"/>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Credly badge design and metadata</a:t>
            </a:r>
            <a:endParaRPr lang="en-US" sz="1600" dirty="0"/>
          </a:p>
        </p:txBody>
      </p:sp>
      <p:sp>
        <p:nvSpPr>
          <p:cNvPr id="22" name="Shape 20"/>
          <p:cNvSpPr/>
          <p:nvPr/>
        </p:nvSpPr>
        <p:spPr>
          <a:xfrm>
            <a:off x="1371600" y="4526280"/>
            <a:ext cx="6400800" cy="502920"/>
          </a:xfrm>
          <a:prstGeom prst="rect">
            <a:avLst/>
          </a:prstGeom>
          <a:solidFill>
            <a:srgbClr val="FF6600"/>
          </a:solidFill>
          <a:ln/>
        </p:spPr>
        <p:txBody>
          <a:bodyPr/>
          <a:lstStyle/>
          <a:p>
            <a:endParaRPr lang="en-US"/>
          </a:p>
        </p:txBody>
      </p:sp>
      <p:sp>
        <p:nvSpPr>
          <p:cNvPr id="23" name="Text 21"/>
          <p:cNvSpPr/>
          <p:nvPr/>
        </p:nvSpPr>
        <p:spPr>
          <a:xfrm>
            <a:off x="1371600" y="4526280"/>
            <a:ext cx="6400800" cy="502920"/>
          </a:xfrm>
          <a:prstGeom prst="rect">
            <a:avLst/>
          </a:prstGeom>
          <a:noFill/>
          <a:ln/>
        </p:spPr>
        <p:txBody>
          <a:bodyPr wrap="square"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Timeline: First badges could launch within one semester</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F660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How We Measure Impact</a:t>
            </a:r>
            <a:endParaRPr lang="en-US" sz="3200" dirty="0"/>
          </a:p>
        </p:txBody>
      </p:sp>
      <p:sp>
        <p:nvSpPr>
          <p:cNvPr id="4" name="Text 2"/>
          <p:cNvSpPr/>
          <p:nvPr/>
        </p:nvSpPr>
        <p:spPr>
          <a:xfrm>
            <a:off x="457200" y="1188720"/>
            <a:ext cx="4114800" cy="365760"/>
          </a:xfrm>
          <a:prstGeom prst="rect">
            <a:avLst/>
          </a:prstGeom>
          <a:noFill/>
          <a:ln/>
        </p:spPr>
        <p:txBody>
          <a:bodyPr wrap="square" rtlCol="0" anchor="ctr"/>
          <a:lstStyle/>
          <a:p>
            <a:pPr marL="0" indent="0">
              <a:buNone/>
            </a:pPr>
            <a:r>
              <a:rPr lang="en-US" sz="1800" b="1" dirty="0">
                <a:solidFill>
                  <a:srgbClr val="008080"/>
                </a:solidFill>
                <a:latin typeface="Times New Roman" pitchFamily="34" charset="0"/>
                <a:ea typeface="Times New Roman" pitchFamily="34" charset="-122"/>
                <a:cs typeface="Times New Roman" pitchFamily="34" charset="-120"/>
              </a:rPr>
              <a:t>Current Metrics</a:t>
            </a:r>
            <a:endParaRPr lang="en-US" sz="1800" dirty="0"/>
          </a:p>
        </p:txBody>
      </p:sp>
      <p:sp>
        <p:nvSpPr>
          <p:cNvPr id="5" name="Shape 3"/>
          <p:cNvSpPr/>
          <p:nvPr/>
        </p:nvSpPr>
        <p:spPr>
          <a:xfrm>
            <a:off x="457200" y="1600200"/>
            <a:ext cx="4114800" cy="2194560"/>
          </a:xfrm>
          <a:prstGeom prst="rect">
            <a:avLst/>
          </a:prstGeom>
          <a:solidFill>
            <a:srgbClr val="E0F2F1"/>
          </a:solidFill>
          <a:ln/>
        </p:spPr>
        <p:txBody>
          <a:bodyPr/>
          <a:lstStyle/>
          <a:p>
            <a:endParaRPr lang="en-US"/>
          </a:p>
        </p:txBody>
      </p:sp>
      <p:sp>
        <p:nvSpPr>
          <p:cNvPr id="6" name="Text 4"/>
          <p:cNvSpPr/>
          <p:nvPr/>
        </p:nvSpPr>
        <p:spPr>
          <a:xfrm>
            <a:off x="640080" y="1737360"/>
            <a:ext cx="2286000" cy="411480"/>
          </a:xfrm>
          <a:prstGeom prst="rect">
            <a:avLst/>
          </a:prstGeom>
          <a:noFill/>
          <a:ln/>
        </p:spPr>
        <p:txBody>
          <a:bodyPr wrap="square" rtlCol="0" anchor="ctr"/>
          <a:lstStyle/>
          <a:p>
            <a:pPr marL="0" indent="0">
              <a:buNone/>
            </a:pPr>
            <a:r>
              <a:rPr lang="en-US" sz="1400" dirty="0">
                <a:solidFill>
                  <a:srgbClr val="000000"/>
                </a:solidFill>
                <a:latin typeface="Times New Roman" pitchFamily="34" charset="0"/>
                <a:ea typeface="Times New Roman" pitchFamily="34" charset="-122"/>
                <a:cs typeface="Times New Roman" pitchFamily="34" charset="-120"/>
              </a:rPr>
              <a:t>Badges issued</a:t>
            </a:r>
            <a:endParaRPr lang="en-US" sz="1400" dirty="0"/>
          </a:p>
        </p:txBody>
      </p:sp>
      <p:sp>
        <p:nvSpPr>
          <p:cNvPr id="7" name="Text 5"/>
          <p:cNvSpPr/>
          <p:nvPr/>
        </p:nvSpPr>
        <p:spPr>
          <a:xfrm>
            <a:off x="3017520" y="1737360"/>
            <a:ext cx="1371600" cy="411480"/>
          </a:xfrm>
          <a:prstGeom prst="rect">
            <a:avLst/>
          </a:prstGeom>
          <a:noFill/>
          <a:ln/>
        </p:spPr>
        <p:txBody>
          <a:bodyPr wrap="square" rtlCol="0" anchor="ctr"/>
          <a:lstStyle/>
          <a:p>
            <a:pPr marL="0" indent="0" algn="r">
              <a:buNone/>
            </a:pPr>
            <a:r>
              <a:rPr lang="en-US" sz="1800" b="1" dirty="0">
                <a:solidFill>
                  <a:srgbClr val="FF6600"/>
                </a:solidFill>
                <a:latin typeface="Times New Roman" pitchFamily="34" charset="0"/>
                <a:ea typeface="Times New Roman" pitchFamily="34" charset="-122"/>
                <a:cs typeface="Times New Roman" pitchFamily="34" charset="-120"/>
              </a:rPr>
              <a:t>1,014</a:t>
            </a:r>
            <a:endParaRPr lang="en-US" sz="1800" dirty="0"/>
          </a:p>
        </p:txBody>
      </p:sp>
      <p:sp>
        <p:nvSpPr>
          <p:cNvPr id="8" name="Text 6"/>
          <p:cNvSpPr/>
          <p:nvPr/>
        </p:nvSpPr>
        <p:spPr>
          <a:xfrm>
            <a:off x="640080" y="2240280"/>
            <a:ext cx="2286000" cy="411480"/>
          </a:xfrm>
          <a:prstGeom prst="rect">
            <a:avLst/>
          </a:prstGeom>
          <a:noFill/>
          <a:ln/>
        </p:spPr>
        <p:txBody>
          <a:bodyPr wrap="square" rtlCol="0" anchor="ctr"/>
          <a:lstStyle/>
          <a:p>
            <a:pPr marL="0" indent="0">
              <a:buNone/>
            </a:pPr>
            <a:r>
              <a:rPr lang="en-US" sz="1400" dirty="0">
                <a:solidFill>
                  <a:srgbClr val="000000"/>
                </a:solidFill>
                <a:latin typeface="Times New Roman" pitchFamily="34" charset="0"/>
                <a:ea typeface="Times New Roman" pitchFamily="34" charset="-122"/>
                <a:cs typeface="Times New Roman" pitchFamily="34" charset="-120"/>
              </a:rPr>
              <a:t>Badge types</a:t>
            </a:r>
            <a:endParaRPr lang="en-US" sz="1400" dirty="0"/>
          </a:p>
        </p:txBody>
      </p:sp>
      <p:sp>
        <p:nvSpPr>
          <p:cNvPr id="9" name="Text 7"/>
          <p:cNvSpPr/>
          <p:nvPr/>
        </p:nvSpPr>
        <p:spPr>
          <a:xfrm>
            <a:off x="3017520" y="2240280"/>
            <a:ext cx="1371600" cy="411480"/>
          </a:xfrm>
          <a:prstGeom prst="rect">
            <a:avLst/>
          </a:prstGeom>
          <a:noFill/>
          <a:ln/>
        </p:spPr>
        <p:txBody>
          <a:bodyPr wrap="square" rtlCol="0" anchor="ctr"/>
          <a:lstStyle/>
          <a:p>
            <a:pPr marL="0" indent="0" algn="r">
              <a:buNone/>
            </a:pPr>
            <a:r>
              <a:rPr lang="en-US" sz="1800" b="1" dirty="0">
                <a:solidFill>
                  <a:srgbClr val="FF6600"/>
                </a:solidFill>
                <a:latin typeface="Times New Roman" pitchFamily="34" charset="0"/>
                <a:ea typeface="Times New Roman" pitchFamily="34" charset="-122"/>
                <a:cs typeface="Times New Roman" pitchFamily="34" charset="-120"/>
              </a:rPr>
              <a:t>17</a:t>
            </a:r>
            <a:endParaRPr lang="en-US" sz="1800" dirty="0"/>
          </a:p>
        </p:txBody>
      </p:sp>
      <p:sp>
        <p:nvSpPr>
          <p:cNvPr id="10" name="Text 8"/>
          <p:cNvSpPr/>
          <p:nvPr/>
        </p:nvSpPr>
        <p:spPr>
          <a:xfrm>
            <a:off x="640080" y="2743200"/>
            <a:ext cx="2286000" cy="411480"/>
          </a:xfrm>
          <a:prstGeom prst="rect">
            <a:avLst/>
          </a:prstGeom>
          <a:noFill/>
          <a:ln/>
        </p:spPr>
        <p:txBody>
          <a:bodyPr wrap="square" rtlCol="0" anchor="ctr"/>
          <a:lstStyle/>
          <a:p>
            <a:pPr marL="0" indent="0">
              <a:buNone/>
            </a:pPr>
            <a:r>
              <a:rPr lang="en-US" sz="1400" dirty="0">
                <a:solidFill>
                  <a:srgbClr val="000000"/>
                </a:solidFill>
                <a:latin typeface="Times New Roman" pitchFamily="34" charset="0"/>
                <a:ea typeface="Times New Roman" pitchFamily="34" charset="-122"/>
                <a:cs typeface="Times New Roman" pitchFamily="34" charset="-120"/>
              </a:rPr>
              <a:t>Acceptance rate</a:t>
            </a:r>
            <a:endParaRPr lang="en-US" sz="1400" dirty="0"/>
          </a:p>
        </p:txBody>
      </p:sp>
      <p:sp>
        <p:nvSpPr>
          <p:cNvPr id="11" name="Text 9"/>
          <p:cNvSpPr/>
          <p:nvPr/>
        </p:nvSpPr>
        <p:spPr>
          <a:xfrm>
            <a:off x="3017520" y="2743200"/>
            <a:ext cx="1371600" cy="411480"/>
          </a:xfrm>
          <a:prstGeom prst="rect">
            <a:avLst/>
          </a:prstGeom>
          <a:noFill/>
          <a:ln/>
        </p:spPr>
        <p:txBody>
          <a:bodyPr wrap="square" rtlCol="0" anchor="ctr"/>
          <a:lstStyle/>
          <a:p>
            <a:pPr marL="0" indent="0" algn="r">
              <a:buNone/>
            </a:pPr>
            <a:r>
              <a:rPr lang="en-US" sz="1800" b="1" dirty="0">
                <a:solidFill>
                  <a:srgbClr val="FF6600"/>
                </a:solidFill>
                <a:latin typeface="Times New Roman" pitchFamily="34" charset="0"/>
                <a:ea typeface="Times New Roman" pitchFamily="34" charset="-122"/>
                <a:cs typeface="Times New Roman" pitchFamily="34" charset="-120"/>
              </a:rPr>
              <a:t>68%</a:t>
            </a:r>
            <a:endParaRPr lang="en-US" sz="1800" dirty="0"/>
          </a:p>
        </p:txBody>
      </p:sp>
      <p:sp>
        <p:nvSpPr>
          <p:cNvPr id="12" name="Text 10"/>
          <p:cNvSpPr/>
          <p:nvPr/>
        </p:nvSpPr>
        <p:spPr>
          <a:xfrm>
            <a:off x="640080" y="3246120"/>
            <a:ext cx="2286000" cy="411480"/>
          </a:xfrm>
          <a:prstGeom prst="rect">
            <a:avLst/>
          </a:prstGeom>
          <a:noFill/>
          <a:ln/>
        </p:spPr>
        <p:txBody>
          <a:bodyPr wrap="square" rtlCol="0" anchor="ctr"/>
          <a:lstStyle/>
          <a:p>
            <a:pPr marL="0" indent="0">
              <a:buNone/>
            </a:pPr>
            <a:r>
              <a:rPr lang="en-US" sz="1400" dirty="0">
                <a:solidFill>
                  <a:srgbClr val="000000"/>
                </a:solidFill>
                <a:latin typeface="Times New Roman" pitchFamily="34" charset="0"/>
                <a:ea typeface="Times New Roman" pitchFamily="34" charset="-122"/>
                <a:cs typeface="Times New Roman" pitchFamily="34" charset="-120"/>
              </a:rPr>
              <a:t>Disciplines served</a:t>
            </a:r>
            <a:endParaRPr lang="en-US" sz="1400" dirty="0"/>
          </a:p>
        </p:txBody>
      </p:sp>
      <p:sp>
        <p:nvSpPr>
          <p:cNvPr id="13" name="Text 11"/>
          <p:cNvSpPr/>
          <p:nvPr/>
        </p:nvSpPr>
        <p:spPr>
          <a:xfrm>
            <a:off x="3017520" y="3246120"/>
            <a:ext cx="1371600" cy="411480"/>
          </a:xfrm>
          <a:prstGeom prst="rect">
            <a:avLst/>
          </a:prstGeom>
          <a:noFill/>
          <a:ln/>
        </p:spPr>
        <p:txBody>
          <a:bodyPr wrap="square" rtlCol="0" anchor="ctr"/>
          <a:lstStyle/>
          <a:p>
            <a:pPr marL="0" indent="0" algn="r">
              <a:buNone/>
            </a:pPr>
            <a:r>
              <a:rPr lang="en-US" sz="1800" b="1" dirty="0">
                <a:solidFill>
                  <a:srgbClr val="FF6600"/>
                </a:solidFill>
                <a:latin typeface="Times New Roman" pitchFamily="34" charset="0"/>
                <a:ea typeface="Times New Roman" pitchFamily="34" charset="-122"/>
                <a:cs typeface="Times New Roman" pitchFamily="34" charset="-120"/>
              </a:rPr>
              <a:t>5</a:t>
            </a:r>
            <a:endParaRPr lang="en-US" sz="1800" dirty="0"/>
          </a:p>
        </p:txBody>
      </p:sp>
      <p:sp>
        <p:nvSpPr>
          <p:cNvPr id="14" name="Text 12"/>
          <p:cNvSpPr/>
          <p:nvPr/>
        </p:nvSpPr>
        <p:spPr>
          <a:xfrm>
            <a:off x="4754880" y="1188720"/>
            <a:ext cx="3931920" cy="365760"/>
          </a:xfrm>
          <a:prstGeom prst="rect">
            <a:avLst/>
          </a:prstGeom>
          <a:noFill/>
          <a:ln/>
        </p:spPr>
        <p:txBody>
          <a:bodyPr wrap="square" rtlCol="0" anchor="ctr"/>
          <a:lstStyle/>
          <a:p>
            <a:pPr marL="0" indent="0">
              <a:buNone/>
            </a:pPr>
            <a:r>
              <a:rPr lang="en-US" sz="1800" b="1" dirty="0">
                <a:solidFill>
                  <a:srgbClr val="FF6600"/>
                </a:solidFill>
                <a:latin typeface="Times New Roman" pitchFamily="34" charset="0"/>
                <a:ea typeface="Times New Roman" pitchFamily="34" charset="-122"/>
                <a:cs typeface="Times New Roman" pitchFamily="34" charset="-120"/>
              </a:rPr>
              <a:t>Future Metrics to Track</a:t>
            </a:r>
            <a:endParaRPr lang="en-US" sz="1800" dirty="0"/>
          </a:p>
        </p:txBody>
      </p:sp>
      <p:sp>
        <p:nvSpPr>
          <p:cNvPr id="15" name="Shape 13"/>
          <p:cNvSpPr/>
          <p:nvPr/>
        </p:nvSpPr>
        <p:spPr>
          <a:xfrm>
            <a:off x="4754880" y="1600200"/>
            <a:ext cx="3931920" cy="2194560"/>
          </a:xfrm>
          <a:prstGeom prst="rect">
            <a:avLst/>
          </a:prstGeom>
          <a:solidFill>
            <a:srgbClr val="FFF3E0"/>
          </a:solidFill>
          <a:ln/>
        </p:spPr>
        <p:txBody>
          <a:bodyPr/>
          <a:lstStyle/>
          <a:p>
            <a:endParaRPr lang="en-US"/>
          </a:p>
        </p:txBody>
      </p:sp>
      <p:sp>
        <p:nvSpPr>
          <p:cNvPr id="16" name="Text 14"/>
          <p:cNvSpPr/>
          <p:nvPr/>
        </p:nvSpPr>
        <p:spPr>
          <a:xfrm>
            <a:off x="4937760" y="1691640"/>
            <a:ext cx="3657600" cy="2011680"/>
          </a:xfrm>
          <a:prstGeom prst="rect">
            <a:avLst/>
          </a:prstGeom>
          <a:noFill/>
          <a:ln/>
        </p:spPr>
        <p:txBody>
          <a:bodyPr wrap="square" rtlCol="0" anchor="ctr"/>
          <a:lstStyle/>
          <a:p>
            <a:pPr marL="342900" indent="-342900">
              <a:spcAft>
                <a:spcPts val="6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Student employment outcomes</a:t>
            </a:r>
            <a:endParaRPr lang="en-US" sz="1300" dirty="0"/>
          </a:p>
          <a:p>
            <a:pPr marL="342900" indent="-342900">
              <a:spcAft>
                <a:spcPts val="6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Employer recognition/requests</a:t>
            </a:r>
            <a:endParaRPr lang="en-US" sz="1300" dirty="0"/>
          </a:p>
          <a:p>
            <a:pPr marL="342900" indent="-342900">
              <a:spcAft>
                <a:spcPts val="6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Badge views and shares on LinkedIn</a:t>
            </a:r>
            <a:endParaRPr lang="en-US" sz="1300" dirty="0"/>
          </a:p>
          <a:p>
            <a:pPr marL="342900" indent="-342900">
              <a:spcAft>
                <a:spcPts val="6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Student satisfaction surveys</a:t>
            </a:r>
            <a:endParaRPr lang="en-US" sz="1300" dirty="0"/>
          </a:p>
          <a:p>
            <a:pPr marL="342900" indent="-342900">
              <a:spcAft>
                <a:spcPts val="6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Faculty adoption rates</a:t>
            </a:r>
            <a:endParaRPr lang="en-US" sz="1300" dirty="0"/>
          </a:p>
        </p:txBody>
      </p:sp>
      <p:sp>
        <p:nvSpPr>
          <p:cNvPr id="17" name="Shape 15"/>
          <p:cNvSpPr/>
          <p:nvPr/>
        </p:nvSpPr>
        <p:spPr>
          <a:xfrm>
            <a:off x="4114800" y="4114800"/>
            <a:ext cx="914400" cy="914400"/>
          </a:xfrm>
          <a:prstGeom prst="ellipse">
            <a:avLst/>
          </a:prstGeom>
          <a:solidFill>
            <a:srgbClr val="008080"/>
          </a:solidFill>
          <a:ln/>
        </p:spPr>
        <p:txBody>
          <a:bodyPr/>
          <a:lstStyle/>
          <a:p>
            <a:endParaRPr lang="en-US"/>
          </a:p>
        </p:txBody>
      </p:sp>
      <p:sp>
        <p:nvSpPr>
          <p:cNvPr id="18" name="Text 16"/>
          <p:cNvSpPr/>
          <p:nvPr/>
        </p:nvSpPr>
        <p:spPr>
          <a:xfrm>
            <a:off x="4114800" y="4114800"/>
            <a:ext cx="914400" cy="914400"/>
          </a:xfrm>
          <a:prstGeom prst="rect">
            <a:avLst/>
          </a:prstGeom>
          <a:noFill/>
          <a:ln/>
        </p:spPr>
        <p:txBody>
          <a:bodyPr wrap="square" rtlCol="0" anchor="ctr"/>
          <a:lstStyle/>
          <a:p>
            <a:pPr marL="0" indent="0" algn="ctr">
              <a:buNone/>
            </a:pPr>
            <a:r>
              <a:rPr lang="en-US" sz="2800" dirty="0">
                <a:solidFill>
                  <a:srgbClr val="FFFFFF"/>
                </a:solidFill>
                <a:latin typeface="Times New Roman" pitchFamily="34" charset="0"/>
                <a:ea typeface="Times New Roman" pitchFamily="34" charset="-122"/>
                <a:cs typeface="Times New Roman" pitchFamily="34" charset="-120"/>
              </a:rPr>
              <a:t>📊</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808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FFFFFF"/>
                </a:solidFill>
                <a:latin typeface="Times New Roman" pitchFamily="34" charset="0"/>
                <a:ea typeface="Times New Roman" pitchFamily="34" charset="-122"/>
                <a:cs typeface="Times New Roman" pitchFamily="34" charset="-120"/>
              </a:rPr>
              <a:t>Explore the Microcredential Integration Hub</a:t>
            </a:r>
            <a:endParaRPr lang="en-US" sz="2800" dirty="0"/>
          </a:p>
        </p:txBody>
      </p:sp>
      <p:sp>
        <p:nvSpPr>
          <p:cNvPr id="4" name="Shape 2"/>
          <p:cNvSpPr/>
          <p:nvPr/>
        </p:nvSpPr>
        <p:spPr>
          <a:xfrm>
            <a:off x="914400" y="1280160"/>
            <a:ext cx="7315200" cy="548640"/>
          </a:xfrm>
          <a:prstGeom prst="rect">
            <a:avLst/>
          </a:prstGeom>
          <a:solidFill>
            <a:srgbClr val="FFF3E0"/>
          </a:solidFill>
          <a:ln/>
        </p:spPr>
        <p:txBody>
          <a:bodyPr/>
          <a:lstStyle/>
          <a:p>
            <a:endParaRPr lang="en-US"/>
          </a:p>
        </p:txBody>
      </p:sp>
      <p:sp>
        <p:nvSpPr>
          <p:cNvPr id="5" name="Text 3"/>
          <p:cNvSpPr/>
          <p:nvPr/>
        </p:nvSpPr>
        <p:spPr>
          <a:xfrm>
            <a:off x="914400" y="1280160"/>
            <a:ext cx="7315200" cy="548640"/>
          </a:xfrm>
          <a:prstGeom prst="rect">
            <a:avLst/>
          </a:prstGeom>
          <a:noFill/>
          <a:ln/>
        </p:spPr>
        <p:txBody>
          <a:bodyPr wrap="square" rtlCol="0" anchor="ctr"/>
          <a:lstStyle/>
          <a:p>
            <a:pPr marL="0" indent="0" algn="ctr">
              <a:buNone/>
            </a:pPr>
            <a:r>
              <a:rPr lang="en-US" sz="2000" b="1" dirty="0">
                <a:solidFill>
                  <a:srgbClr val="FF6600"/>
                </a:solidFill>
                <a:latin typeface="Times New Roman" pitchFamily="34" charset="0"/>
                <a:ea typeface="Times New Roman" pitchFamily="34" charset="-122"/>
                <a:cs typeface="Times New Roman" pitchFamily="34" charset="-120"/>
              </a:rPr>
              <a:t>https://amlw05.github.io/microcreds/</a:t>
            </a:r>
            <a:endParaRPr lang="en-US" sz="2000" dirty="0"/>
          </a:p>
        </p:txBody>
      </p:sp>
      <p:sp>
        <p:nvSpPr>
          <p:cNvPr id="7" name="Text 5"/>
          <p:cNvSpPr/>
          <p:nvPr/>
        </p:nvSpPr>
        <p:spPr>
          <a:xfrm>
            <a:off x="1097280" y="2103120"/>
            <a:ext cx="1828800" cy="1828800"/>
          </a:xfrm>
          <a:prstGeom prst="rect">
            <a:avLst/>
          </a:prstGeom>
          <a:noFill/>
          <a:ln/>
        </p:spPr>
        <p:txBody>
          <a:bodyPr wrap="square" rtlCol="0" anchor="ctr"/>
          <a:lstStyle/>
          <a:p>
            <a:pPr marL="0" indent="0" algn="ctr">
              <a:buNone/>
            </a:pPr>
            <a:endParaRPr lang="en-US" sz="2400" dirty="0"/>
          </a:p>
        </p:txBody>
      </p:sp>
      <p:sp>
        <p:nvSpPr>
          <p:cNvPr id="8" name="Text 6"/>
          <p:cNvSpPr/>
          <p:nvPr/>
        </p:nvSpPr>
        <p:spPr>
          <a:xfrm>
            <a:off x="914400" y="4114800"/>
            <a:ext cx="2266122" cy="274320"/>
          </a:xfrm>
          <a:prstGeom prst="rect">
            <a:avLst/>
          </a:prstGeom>
          <a:noFill/>
          <a:ln/>
        </p:spPr>
        <p:txBody>
          <a:bodyPr wrap="square" rtlCol="0" anchor="ctr"/>
          <a:lstStyle/>
          <a:p>
            <a:pPr algn="ctr"/>
            <a:r>
              <a:rPr lang="en-US" sz="1100" dirty="0">
                <a:solidFill>
                  <a:srgbClr val="333333"/>
                </a:solidFill>
                <a:latin typeface="Times New Roman" pitchFamily="34" charset="0"/>
                <a:ea typeface="Times New Roman" pitchFamily="34" charset="-122"/>
                <a:cs typeface="Times New Roman" pitchFamily="34" charset="-120"/>
                <a:hlinkClick r:id="rId3"/>
              </a:rPr>
              <a:t>https://amlw05.github.io/microcreds/</a:t>
            </a:r>
            <a:endParaRPr lang="en-US" sz="1100" dirty="0">
              <a:solidFill>
                <a:srgbClr val="333333"/>
              </a:solidFill>
              <a:latin typeface="Times New Roman" pitchFamily="34" charset="0"/>
              <a:ea typeface="Times New Roman" pitchFamily="34" charset="-122"/>
              <a:cs typeface="Times New Roman" pitchFamily="34" charset="-120"/>
            </a:endParaRPr>
          </a:p>
          <a:p>
            <a:pPr algn="ctr"/>
            <a:endParaRPr lang="en-US" sz="1100" dirty="0"/>
          </a:p>
        </p:txBody>
      </p:sp>
      <p:sp>
        <p:nvSpPr>
          <p:cNvPr id="9" name="Text 7"/>
          <p:cNvSpPr/>
          <p:nvPr/>
        </p:nvSpPr>
        <p:spPr>
          <a:xfrm>
            <a:off x="3474720" y="2011680"/>
            <a:ext cx="5029200" cy="365760"/>
          </a:xfrm>
          <a:prstGeom prst="rect">
            <a:avLst/>
          </a:prstGeom>
          <a:noFill/>
          <a:ln/>
        </p:spPr>
        <p:txBody>
          <a:bodyPr wrap="square" rtlCol="0" anchor="ctr"/>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Dashboard Features:</a:t>
            </a:r>
            <a:endParaRPr lang="en-US" sz="1600" dirty="0"/>
          </a:p>
        </p:txBody>
      </p:sp>
      <p:sp>
        <p:nvSpPr>
          <p:cNvPr id="10" name="Text 8"/>
          <p:cNvSpPr/>
          <p:nvPr/>
        </p:nvSpPr>
        <p:spPr>
          <a:xfrm>
            <a:off x="3474720" y="2423160"/>
            <a:ext cx="5029200" cy="2286000"/>
          </a:xfrm>
          <a:prstGeom prst="rect">
            <a:avLst/>
          </a:prstGeom>
          <a:noFill/>
          <a:ln/>
        </p:spPr>
        <p:txBody>
          <a:bodyPr wrap="square" rtlCol="0" anchor="ctr"/>
          <a:lstStyle/>
          <a:p>
            <a:pPr marL="342900" indent="-342900">
              <a:spcAft>
                <a:spcPts val="6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Real-time statistics and growth data</a:t>
            </a:r>
            <a:endParaRPr lang="en-US" sz="1300" dirty="0"/>
          </a:p>
          <a:p>
            <a:pPr marL="342900" indent="-342900">
              <a:spcAft>
                <a:spcPts val="6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Interdisciplinary breakdown with badge counts</a:t>
            </a:r>
            <a:endParaRPr lang="en-US" sz="1300" dirty="0"/>
          </a:p>
          <a:p>
            <a:pPr marL="342900" indent="-342900">
              <a:spcAft>
                <a:spcPts val="6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Course integration analyzer</a:t>
            </a:r>
            <a:endParaRPr lang="en-US" sz="1300" dirty="0"/>
          </a:p>
          <a:p>
            <a:pPr marL="342900" indent="-342900">
              <a:spcAft>
                <a:spcPts val="6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Stackable pathway visualizations</a:t>
            </a:r>
            <a:endParaRPr lang="en-US" sz="1300" dirty="0"/>
          </a:p>
          <a:p>
            <a:pPr marL="342900" indent="-342900">
              <a:spcAft>
                <a:spcPts val="6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AI methodology documentation</a:t>
            </a:r>
            <a:endParaRPr lang="en-US" sz="1300" dirty="0"/>
          </a:p>
          <a:p>
            <a:pPr marL="342900" indent="-342900">
              <a:spcAft>
                <a:spcPts val="6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Transformational skills opportunity section</a:t>
            </a:r>
            <a:endParaRPr lang="en-US" sz="1300" dirty="0"/>
          </a:p>
        </p:txBody>
      </p:sp>
      <p:pic>
        <p:nvPicPr>
          <p:cNvPr id="12" name="Picture 11" descr="A qr code with a dinosaur&#10;&#10;AI-generated content may be incorrect.">
            <a:extLst>
              <a:ext uri="{FF2B5EF4-FFF2-40B4-BE49-F238E27FC236}">
                <a16:creationId xmlns:a16="http://schemas.microsoft.com/office/drawing/2014/main" id="{05E02C60-6116-0EF5-6B73-A1EAEF4366F2}"/>
              </a:ext>
            </a:extLst>
          </p:cNvPr>
          <p:cNvPicPr>
            <a:picLocks noChangeAspect="1"/>
          </p:cNvPicPr>
          <p:nvPr/>
        </p:nvPicPr>
        <p:blipFill>
          <a:blip r:embed="rId4"/>
          <a:stretch>
            <a:fillRect/>
          </a:stretch>
        </p:blipFill>
        <p:spPr>
          <a:xfrm>
            <a:off x="1123039" y="2128879"/>
            <a:ext cx="1777282" cy="177728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F6600"/>
          </a:solidFill>
          <a:ln/>
        </p:spPr>
        <p:txBody>
          <a:bodyPr/>
          <a:lstStyle/>
          <a:p>
            <a:endParaRPr lang="en-US"/>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How Can We Collaborate?</a:t>
            </a:r>
            <a:endParaRPr lang="en-US" sz="3200" dirty="0"/>
          </a:p>
        </p:txBody>
      </p:sp>
      <p:sp>
        <p:nvSpPr>
          <p:cNvPr id="4" name="Text 2"/>
          <p:cNvSpPr/>
          <p:nvPr/>
        </p:nvSpPr>
        <p:spPr>
          <a:xfrm>
            <a:off x="457200" y="1188720"/>
            <a:ext cx="4572000" cy="365760"/>
          </a:xfrm>
          <a:prstGeom prst="rect">
            <a:avLst/>
          </a:prstGeom>
          <a:noFill/>
          <a:ln/>
        </p:spPr>
        <p:txBody>
          <a:bodyPr wrap="square" rtlCol="0" anchor="ctr"/>
          <a:lstStyle/>
          <a:p>
            <a:pPr marL="0" indent="0">
              <a:buNone/>
            </a:pPr>
            <a:r>
              <a:rPr lang="en-US" sz="1800" b="1" dirty="0">
                <a:solidFill>
                  <a:srgbClr val="008080"/>
                </a:solidFill>
                <a:latin typeface="Times New Roman" pitchFamily="34" charset="0"/>
                <a:ea typeface="Times New Roman" pitchFamily="34" charset="-122"/>
                <a:cs typeface="Times New Roman" pitchFamily="34" charset="-120"/>
              </a:rPr>
              <a:t>Questions for the Task Force:</a:t>
            </a:r>
            <a:endParaRPr lang="en-US" sz="1800" dirty="0"/>
          </a:p>
        </p:txBody>
      </p:sp>
      <p:sp>
        <p:nvSpPr>
          <p:cNvPr id="5" name="Text 3"/>
          <p:cNvSpPr/>
          <p:nvPr/>
        </p:nvSpPr>
        <p:spPr>
          <a:xfrm>
            <a:off x="457200" y="1600200"/>
            <a:ext cx="5029200" cy="1828800"/>
          </a:xfrm>
          <a:prstGeom prst="rect">
            <a:avLst/>
          </a:prstGeom>
          <a:noFill/>
          <a:ln/>
        </p:spPr>
        <p:txBody>
          <a:bodyPr wrap="square" rtlCol="0" anchor="ctr"/>
          <a:lstStyle/>
          <a:p>
            <a:pPr marL="342900" indent="-342900">
              <a:spcAft>
                <a:spcPts val="10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Which transformational skills are highest priority?</a:t>
            </a:r>
            <a:endParaRPr lang="en-US" sz="1400" dirty="0"/>
          </a:p>
          <a:p>
            <a:pPr marL="342900" indent="-342900">
              <a:spcAft>
                <a:spcPts val="10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Which programs or courses might pilot first?</a:t>
            </a:r>
            <a:endParaRPr lang="en-US" sz="1400" dirty="0"/>
          </a:p>
          <a:p>
            <a:pPr marL="342900" indent="-342900">
              <a:spcAft>
                <a:spcPts val="10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What concerns or barriers should we address?</a:t>
            </a:r>
            <a:endParaRPr lang="en-US" sz="1400" dirty="0"/>
          </a:p>
          <a:p>
            <a:pPr marL="342900" indent="-342900">
              <a:spcAft>
                <a:spcPts val="10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How can microcredentials support your existing initiatives?</a:t>
            </a:r>
            <a:endParaRPr lang="en-US" sz="1400" dirty="0"/>
          </a:p>
        </p:txBody>
      </p:sp>
      <p:sp>
        <p:nvSpPr>
          <p:cNvPr id="6" name="Shape 4"/>
          <p:cNvSpPr/>
          <p:nvPr/>
        </p:nvSpPr>
        <p:spPr>
          <a:xfrm>
            <a:off x="5669280" y="1097280"/>
            <a:ext cx="3017520" cy="2286000"/>
          </a:xfrm>
          <a:prstGeom prst="rect">
            <a:avLst/>
          </a:prstGeom>
          <a:solidFill>
            <a:srgbClr val="E0F2F1"/>
          </a:solidFill>
          <a:ln/>
        </p:spPr>
        <p:txBody>
          <a:bodyPr/>
          <a:lstStyle/>
          <a:p>
            <a:endParaRPr lang="en-US" dirty="0"/>
          </a:p>
        </p:txBody>
      </p:sp>
      <p:sp>
        <p:nvSpPr>
          <p:cNvPr id="7" name="Text 5"/>
          <p:cNvSpPr/>
          <p:nvPr/>
        </p:nvSpPr>
        <p:spPr>
          <a:xfrm>
            <a:off x="5669280" y="1280160"/>
            <a:ext cx="3017520" cy="365760"/>
          </a:xfrm>
          <a:prstGeom prst="rect">
            <a:avLst/>
          </a:prstGeom>
          <a:noFill/>
          <a:ln/>
        </p:spPr>
        <p:txBody>
          <a:bodyPr wrap="square" rtlCol="0" anchor="ctr"/>
          <a:lstStyle/>
          <a:p>
            <a:pPr marL="0" indent="0" algn="ctr">
              <a:buNone/>
            </a:pPr>
            <a:r>
              <a:rPr lang="en-US" sz="1600" b="1" dirty="0">
                <a:solidFill>
                  <a:srgbClr val="008080"/>
                </a:solidFill>
                <a:latin typeface="Times New Roman" pitchFamily="34" charset="0"/>
                <a:ea typeface="Times New Roman" pitchFamily="34" charset="-122"/>
                <a:cs typeface="Times New Roman" pitchFamily="34" charset="-120"/>
              </a:rPr>
              <a:t>Contact</a:t>
            </a:r>
            <a:endParaRPr lang="en-US" sz="1600" dirty="0"/>
          </a:p>
        </p:txBody>
      </p:sp>
      <p:sp>
        <p:nvSpPr>
          <p:cNvPr id="8" name="Text 6"/>
          <p:cNvSpPr/>
          <p:nvPr/>
        </p:nvSpPr>
        <p:spPr>
          <a:xfrm>
            <a:off x="5760720" y="1691640"/>
            <a:ext cx="2834640" cy="320040"/>
          </a:xfrm>
          <a:prstGeom prst="rect">
            <a:avLst/>
          </a:prstGeom>
          <a:noFill/>
          <a:ln/>
        </p:spPr>
        <p:txBody>
          <a:bodyPr wrap="square" rtlCol="0" anchor="ctr"/>
          <a:lstStyle/>
          <a:p>
            <a:pPr marL="0" indent="0" algn="ctr">
              <a:buNone/>
            </a:pPr>
            <a:r>
              <a:rPr lang="en-US" sz="1200" b="1" dirty="0">
                <a:solidFill>
                  <a:srgbClr val="000000"/>
                </a:solidFill>
                <a:latin typeface="Times New Roman" pitchFamily="34" charset="0"/>
                <a:ea typeface="Times New Roman" pitchFamily="34" charset="-122"/>
                <a:cs typeface="Times New Roman" pitchFamily="34" charset="-120"/>
              </a:rPr>
              <a:t>Angela Westmoreland, M.Ed.</a:t>
            </a:r>
            <a:endParaRPr lang="en-US" sz="1200" dirty="0"/>
          </a:p>
        </p:txBody>
      </p:sp>
      <p:sp>
        <p:nvSpPr>
          <p:cNvPr id="9" name="Text 7"/>
          <p:cNvSpPr/>
          <p:nvPr/>
        </p:nvSpPr>
        <p:spPr>
          <a:xfrm>
            <a:off x="5760720" y="2011680"/>
            <a:ext cx="2834640" cy="548640"/>
          </a:xfrm>
          <a:prstGeom prst="rect">
            <a:avLst/>
          </a:prstGeom>
          <a:noFill/>
          <a:ln/>
        </p:spPr>
        <p:txBody>
          <a:bodyPr wrap="square" rtlCol="0" anchor="ctr"/>
          <a:lstStyle/>
          <a:p>
            <a:pPr marL="0" indent="0" algn="ctr">
              <a:buNone/>
            </a:pPr>
            <a:r>
              <a:rPr lang="en-US" sz="1100" dirty="0">
                <a:solidFill>
                  <a:srgbClr val="333333"/>
                </a:solidFill>
                <a:latin typeface="Times New Roman" pitchFamily="34" charset="0"/>
                <a:ea typeface="Times New Roman" pitchFamily="34" charset="-122"/>
                <a:cs typeface="Times New Roman" pitchFamily="34" charset="-120"/>
              </a:rPr>
              <a:t>Instructional Support &amp;</a:t>
            </a:r>
            <a:endParaRPr lang="en-US" sz="1100" dirty="0"/>
          </a:p>
          <a:p>
            <a:pPr marL="0" indent="0" algn="ctr">
              <a:buNone/>
            </a:pPr>
            <a:r>
              <a:rPr lang="en-US" sz="1100" dirty="0">
                <a:solidFill>
                  <a:srgbClr val="333333"/>
                </a:solidFill>
                <a:latin typeface="Times New Roman" pitchFamily="34" charset="0"/>
                <a:ea typeface="Times New Roman" pitchFamily="34" charset="-122"/>
                <a:cs typeface="Times New Roman" pitchFamily="34" charset="-120"/>
              </a:rPr>
              <a:t>Quality Assurance Analyst</a:t>
            </a:r>
            <a:endParaRPr lang="en-US" sz="1100" dirty="0"/>
          </a:p>
        </p:txBody>
      </p:sp>
      <p:sp>
        <p:nvSpPr>
          <p:cNvPr id="10" name="Text 8"/>
          <p:cNvSpPr/>
          <p:nvPr/>
        </p:nvSpPr>
        <p:spPr>
          <a:xfrm>
            <a:off x="5760720" y="2606040"/>
            <a:ext cx="2834640" cy="274320"/>
          </a:xfrm>
          <a:prstGeom prst="rect">
            <a:avLst/>
          </a:prstGeom>
          <a:noFill/>
          <a:ln/>
        </p:spPr>
        <p:txBody>
          <a:bodyPr wrap="square" rtlCol="0" anchor="ctr"/>
          <a:lstStyle/>
          <a:p>
            <a:pPr marL="0" indent="0" algn="ctr">
              <a:buNone/>
            </a:pPr>
            <a:r>
              <a:rPr lang="en-US" sz="1100" dirty="0">
                <a:hlinkClick r:id="rId3"/>
              </a:rPr>
              <a:t>westmora@faytechcc.edu</a:t>
            </a:r>
            <a:endParaRPr lang="en-US" sz="1100" dirty="0"/>
          </a:p>
          <a:p>
            <a:pPr marL="0" indent="0" algn="ctr">
              <a:buNone/>
            </a:pPr>
            <a:endParaRPr lang="en-US" sz="1100" dirty="0"/>
          </a:p>
        </p:txBody>
      </p:sp>
      <p:sp>
        <p:nvSpPr>
          <p:cNvPr id="11" name="Text 9"/>
          <p:cNvSpPr/>
          <p:nvPr/>
        </p:nvSpPr>
        <p:spPr>
          <a:xfrm>
            <a:off x="5760720" y="2880360"/>
            <a:ext cx="2834640" cy="274320"/>
          </a:xfrm>
          <a:prstGeom prst="rect">
            <a:avLst/>
          </a:prstGeom>
          <a:noFill/>
          <a:ln/>
        </p:spPr>
        <p:txBody>
          <a:bodyPr wrap="square" rtlCol="0" anchor="ctr"/>
          <a:lstStyle/>
          <a:p>
            <a:pPr marL="0" indent="0" algn="ctr">
              <a:buNone/>
            </a:pPr>
            <a:r>
              <a:rPr lang="en-US" sz="1100" dirty="0">
                <a:solidFill>
                  <a:srgbClr val="008080"/>
                </a:solidFill>
                <a:latin typeface="Times New Roman" pitchFamily="34" charset="0"/>
                <a:ea typeface="Times New Roman" pitchFamily="34" charset="-122"/>
                <a:cs typeface="Times New Roman" pitchFamily="34" charset="-120"/>
              </a:rPr>
              <a:t>910-486-7312</a:t>
            </a:r>
            <a:endParaRPr lang="en-US" sz="1100" dirty="0"/>
          </a:p>
        </p:txBody>
      </p:sp>
      <p:sp>
        <p:nvSpPr>
          <p:cNvPr id="12" name="Text 10"/>
          <p:cNvSpPr/>
          <p:nvPr/>
        </p:nvSpPr>
        <p:spPr>
          <a:xfrm>
            <a:off x="457200" y="3749040"/>
            <a:ext cx="8229600" cy="320040"/>
          </a:xfrm>
          <a:prstGeom prst="rect">
            <a:avLst/>
          </a:prstGeom>
          <a:noFill/>
          <a:ln/>
        </p:spPr>
        <p:txBody>
          <a:bodyPr wrap="square" rtlCol="0" anchor="ctr"/>
          <a:lstStyle/>
          <a:p>
            <a:pPr marL="0" indent="0">
              <a:buNone/>
            </a:pPr>
            <a:r>
              <a:rPr lang="en-US" sz="1400" b="1" dirty="0">
                <a:solidFill>
                  <a:srgbClr val="000000"/>
                </a:solidFill>
                <a:latin typeface="Times New Roman" pitchFamily="34" charset="0"/>
                <a:ea typeface="Times New Roman" pitchFamily="34" charset="-122"/>
                <a:cs typeface="Times New Roman" pitchFamily="34" charset="-120"/>
              </a:rPr>
              <a:t>Resources:</a:t>
            </a:r>
          </a:p>
          <a:p>
            <a:pPr marL="0" indent="0">
              <a:buNone/>
            </a:pPr>
            <a:endParaRPr lang="en-US" sz="1400" dirty="0"/>
          </a:p>
        </p:txBody>
      </p:sp>
      <p:sp>
        <p:nvSpPr>
          <p:cNvPr id="13" name="Text 11"/>
          <p:cNvSpPr/>
          <p:nvPr/>
        </p:nvSpPr>
        <p:spPr>
          <a:xfrm>
            <a:off x="457200" y="4069080"/>
            <a:ext cx="8229600" cy="274320"/>
          </a:xfrm>
          <a:prstGeom prst="rect">
            <a:avLst/>
          </a:prstGeom>
          <a:noFill/>
          <a:ln/>
        </p:spPr>
        <p:txBody>
          <a:bodyPr wrap="square" rtlCol="0" anchor="ctr"/>
          <a:lstStyle/>
          <a:p>
            <a:pPr marL="0" indent="0">
              <a:buNone/>
            </a:pPr>
            <a:r>
              <a:rPr lang="en-US" sz="1200" dirty="0">
                <a:solidFill>
                  <a:srgbClr val="008080"/>
                </a:solidFill>
                <a:latin typeface="Times New Roman" pitchFamily="34" charset="0"/>
                <a:ea typeface="Times New Roman" pitchFamily="34" charset="-122"/>
                <a:cs typeface="Times New Roman" pitchFamily="34" charset="-120"/>
              </a:rPr>
              <a:t>Dashboard: </a:t>
            </a:r>
            <a:r>
              <a:rPr lang="en-US" sz="1200" dirty="0">
                <a:solidFill>
                  <a:srgbClr val="008080"/>
                </a:solidFill>
                <a:latin typeface="Times New Roman" pitchFamily="34" charset="0"/>
                <a:ea typeface="Times New Roman" pitchFamily="34" charset="-122"/>
                <a:cs typeface="Times New Roman" pitchFamily="34" charset="-120"/>
                <a:hlinkClick r:id="rId4"/>
              </a:rPr>
              <a:t>https://amlw05.github.io/microcreds/</a:t>
            </a:r>
            <a:endParaRPr lang="en-US" sz="1200" dirty="0">
              <a:solidFill>
                <a:srgbClr val="008080"/>
              </a:solidFill>
              <a:latin typeface="Times New Roman" pitchFamily="34" charset="0"/>
              <a:ea typeface="Times New Roman" pitchFamily="34" charset="-122"/>
              <a:cs typeface="Times New Roman" pitchFamily="34" charset="-120"/>
            </a:endParaRPr>
          </a:p>
          <a:p>
            <a:pPr marL="0" indent="0">
              <a:buNone/>
            </a:pPr>
            <a:endParaRPr lang="en-US" sz="1200" dirty="0">
              <a:solidFill>
                <a:srgbClr val="008080"/>
              </a:solidFill>
              <a:latin typeface="Times New Roman" pitchFamily="34" charset="0"/>
              <a:ea typeface="Times New Roman" pitchFamily="34" charset="-122"/>
              <a:cs typeface="Times New Roman" pitchFamily="34" charset="-120"/>
            </a:endParaRPr>
          </a:p>
        </p:txBody>
      </p:sp>
      <p:sp>
        <p:nvSpPr>
          <p:cNvPr id="14" name="Text 12"/>
          <p:cNvSpPr/>
          <p:nvPr/>
        </p:nvSpPr>
        <p:spPr>
          <a:xfrm>
            <a:off x="457200" y="4274488"/>
            <a:ext cx="8229600" cy="274320"/>
          </a:xfrm>
          <a:prstGeom prst="rect">
            <a:avLst/>
          </a:prstGeom>
          <a:noFill/>
          <a:ln/>
        </p:spPr>
        <p:txBody>
          <a:bodyPr wrap="square" rtlCol="0" anchor="ctr"/>
          <a:lstStyle/>
          <a:p>
            <a:pPr marL="0" indent="0">
              <a:buNone/>
            </a:pPr>
            <a:r>
              <a:rPr lang="en-US" sz="1200" dirty="0">
                <a:solidFill>
                  <a:srgbClr val="008080"/>
                </a:solidFill>
                <a:latin typeface="Times New Roman" pitchFamily="34" charset="0"/>
                <a:ea typeface="Times New Roman" pitchFamily="34" charset="-122"/>
                <a:cs typeface="Times New Roman" pitchFamily="34" charset="-120"/>
              </a:rPr>
              <a:t>FTCC Credly: </a:t>
            </a:r>
            <a:r>
              <a:rPr lang="en-US" sz="1200" dirty="0">
                <a:solidFill>
                  <a:srgbClr val="008080"/>
                </a:solidFill>
                <a:latin typeface="Times New Roman" pitchFamily="34" charset="0"/>
                <a:ea typeface="Times New Roman" pitchFamily="34" charset="-122"/>
                <a:cs typeface="Times New Roman" pitchFamily="34" charset="-120"/>
                <a:hlinkClick r:id="rId5"/>
              </a:rPr>
              <a:t>https://www.credly.com/organizations/fayetteville-technical-community-college/badges</a:t>
            </a:r>
            <a:endParaRPr lang="en-US" sz="1200" dirty="0">
              <a:solidFill>
                <a:srgbClr val="008080"/>
              </a:solidFill>
              <a:latin typeface="Times New Roman" pitchFamily="34" charset="0"/>
              <a:ea typeface="Times New Roman" pitchFamily="34" charset="-122"/>
              <a:cs typeface="Times New Roman" pitchFamily="34" charset="-120"/>
            </a:endParaRPr>
          </a:p>
          <a:p>
            <a:pPr marL="0" indent="0">
              <a:buNone/>
            </a:pPr>
            <a:endParaRPr lang="en-US" sz="1200" dirty="0"/>
          </a:p>
        </p:txBody>
      </p:sp>
      <p:sp>
        <p:nvSpPr>
          <p:cNvPr id="15" name="Shape 13"/>
          <p:cNvSpPr/>
          <p:nvPr/>
        </p:nvSpPr>
        <p:spPr>
          <a:xfrm>
            <a:off x="2286000" y="4709160"/>
            <a:ext cx="4572000" cy="365760"/>
          </a:xfrm>
          <a:prstGeom prst="rect">
            <a:avLst/>
          </a:prstGeom>
          <a:solidFill>
            <a:srgbClr val="FF6600"/>
          </a:solidFill>
          <a:ln/>
        </p:spPr>
        <p:txBody>
          <a:bodyPr/>
          <a:lstStyle/>
          <a:p>
            <a:endParaRPr lang="en-US"/>
          </a:p>
        </p:txBody>
      </p:sp>
      <p:sp>
        <p:nvSpPr>
          <p:cNvPr id="16" name="Text 14"/>
          <p:cNvSpPr/>
          <p:nvPr/>
        </p:nvSpPr>
        <p:spPr>
          <a:xfrm>
            <a:off x="2286000" y="4709160"/>
            <a:ext cx="4572000" cy="365760"/>
          </a:xfrm>
          <a:prstGeom prst="rect">
            <a:avLst/>
          </a:prstGeom>
          <a:no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3143</Words>
  <Application>Microsoft Office PowerPoint</Application>
  <PresentationFormat>On-screen Show (16:9)</PresentationFormat>
  <Paragraphs>286</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Microcredentialing at FTCC: An Interdisciplinary Success Story</dc:title>
  <dc:subject>PptxGenJS Presentation</dc:subject>
  <dc:creator>Angela Westmoreland, M.Ed.</dc:creator>
  <cp:lastModifiedBy>Angela Westmoreland</cp:lastModifiedBy>
  <cp:revision>4</cp:revision>
  <dcterms:created xsi:type="dcterms:W3CDTF">2026-02-03T19:58:39Z</dcterms:created>
  <dcterms:modified xsi:type="dcterms:W3CDTF">2026-02-03T22:29:38Z</dcterms:modified>
</cp:coreProperties>
</file>